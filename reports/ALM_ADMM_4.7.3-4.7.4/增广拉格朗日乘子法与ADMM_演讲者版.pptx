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10"/>
    <p:sldId id="257" r:id="rId11"/>
    <p:sldId id="258" r:id="rId12"/>
    <p:sldId id="259" r:id="rId13"/>
    <p:sldId id="260" r:id="rId9"/>
    <p:sldId id="261" r:id="rId8"/>
    <p:sldId id="262" r:id="rId7"/>
    <p:sldId id="263" r:id="rId6"/>
    <p:sldId id="264" r:id="rId5"/>
    <p:sldId id="265" r:id="rId4"/>
    <p:sldId id="266" r:id="rId3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</p:sldIdLst>
  <p:sldSz cx="12191999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showPr loop="0" useTimings="0" showNarration="0" showAnimation="1">
    <p:present/>
  </p:showPr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 xp" initials="cx" lastIdx="0" clrIdx="0"/>
  <p:cmAuthor id="2" name="Fengxian WU" initials="F" lastIdx="0" clrIdx="1"/>
  <p:cmAuthor id="3" name="作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1.xml"/><Relationship Id="rId4" Type="http://schemas.openxmlformats.org/officeDocument/2006/relationships/slide" Target="slides/slide10.xml"/><Relationship Id="rId5" Type="http://schemas.openxmlformats.org/officeDocument/2006/relationships/slide" Target="slides/slide9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Relationship Id="rId18" Type="http://schemas.openxmlformats.org/officeDocument/2006/relationships/commentAuthors" Target="commentAuthors.xml"/><Relationship Id="rId19" Type="http://schemas.openxmlformats.org/officeDocument/2006/relationships/customXmlProps" Target="../customXml/itemProps1.xml"/><Relationship Id="rId20" Type="http://schemas.openxmlformats.org/officeDocument/2006/relationships/customXml" Target="../customXml/item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【建议用时】30 秒</a:t>
            </a:r>
          </a:p>
          <a:p>
            <a:r>
              <a:t>【本页目标】理解 ALM 与 ADMM 的共同主线</a:t>
            </a:r>
          </a:p>
          <a:p/>
          <a:p>
            <a:r>
              <a:t>【讲稿】</a:t>
            </a:r>
          </a:p>
          <a:p>
            <a:r>
              <a:t>今天汇报教材第4.7.3和4.7.4节，分别是增广拉格朗日乘子法和交替方向乘子法，也就是ADMM。我们从一个问题出发：面对约束，怎样既让迭代逐步满足约束，又让每一步足够容易求解？前半部分介绍乘子与罚项如何配合，后半部分介绍怎样通过分块降低每轮求解的难度。</a:t>
            </a:r>
          </a:p>
          <a:p/>
          <a:p>
            <a:r>
              <a:t>【讲解提示】</a:t>
            </a:r>
          </a:p>
          <a:p>
            <a:r>
              <a:t>开场只读中文名称与ADMM缩写；不必展开英文全称。</a:t>
            </a:r>
          </a:p>
          <a:p/>
          <a:p>
            <a:r>
              <a:t>【过渡】</a:t>
            </a:r>
          </a:p>
          <a:p>
            <a:r>
              <a:t>先看本次汇报的四个问题。</a:t>
            </a:r>
          </a:p>
          <a:p/>
          <a:p>
            <a:r>
              <a:t>【来源与核对】</a:t>
            </a:r>
          </a:p>
          <a:p>
            <a:r>
              <a:t>教材印刷页261—266；本PPT只覆盖4.7.3—4.7.4，不包含4.8 Newton法。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【建议用时】45 秒</a:t>
            </a:r>
          </a:p>
          <a:p>
            <a:r>
              <a:t>【本页目标】建立四个问题的路线图</a:t>
            </a:r>
          </a:p>
          <a:p/>
          <a:p>
            <a:r>
              <a:t>【讲稿】</a:t>
            </a:r>
          </a:p>
          <a:p>
            <a:r>
              <a:t>这一讲围绕四个问题。第一，普通拉格朗日方法和罚函数方法各有什么不足，为什么要把它们组合？第二，增广以后原始变量和乘子怎样交替更新？第三，当目标函数可以分成两部分，ADMM如何利用这种结构？第四，程序运行时如何判断结果已经足够好？大家只需要始终记住两条线：约束残差推动乘子更新，变量分块降低求解负担。</a:t>
            </a:r>
          </a:p>
          <a:p/>
          <a:p>
            <a:r>
              <a:t>【讲解提示】</a:t>
            </a:r>
          </a:p>
          <a:p>
            <a:r>
              <a:t>指向四个问题；不逐字朗读副标题。建议第8页结束时用时约8分钟，第12页结束时约14分钟。</a:t>
            </a:r>
          </a:p>
          <a:p/>
          <a:p>
            <a:r>
              <a:t>【过渡】</a:t>
            </a:r>
          </a:p>
          <a:p>
            <a:r>
              <a:t>先回到等式约束问题，看看单独使用乘子或罚项会发生什么。</a:t>
            </a:r>
          </a:p>
          <a:p/>
          <a:p>
            <a:r>
              <a:t>【来源与核对】</a:t>
            </a:r>
          </a:p>
          <a:p>
            <a:r>
              <a:t>依据教材4.7.3—4.7.4重新编排。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【建议用时】60 秒</a:t>
            </a:r>
          </a:p>
          <a:p>
            <a:r>
              <a:t>【本页目标】解释增广方法的动机</a:t>
            </a:r>
          </a:p>
          <a:p/>
          <a:p>
            <a:r>
              <a:t>【讲稿】</a:t>
            </a:r>
          </a:p>
          <a:p>
            <a:r>
              <a:t>考虑最小化f，同时要求h等于零。左边是普通拉格朗日函数，乘子可以理解为违反约束的价格，但在某些问题上原始子问题不够稳定，对偶上升也可能比较慢。右边是二次罚函数，它直接把残差平方加到目标中；为了把误差压得很小，往往要把ρ取得很大，这又可能使子问题条件数变差。增广方法把两者结合：罚项提供当前的约束控制，乘子记住并纠正长期的偏差。</a:t>
            </a:r>
          </a:p>
          <a:p/>
          <a:p>
            <a:r>
              <a:t>【讲解提示】</a:t>
            </a:r>
          </a:p>
          <a:p>
            <a:r>
              <a:t>先解释λ，再解释ρ；“可能”不可省略。不要声称普通拉格朗日方法在所有非凸问题上都不可用。</a:t>
            </a:r>
          </a:p>
          <a:p/>
          <a:p>
            <a:r>
              <a:t>【过渡】</a:t>
            </a:r>
          </a:p>
          <a:p>
            <a:r>
              <a:t>接下来把这三个部分写成一个明确的目标函数。</a:t>
            </a:r>
          </a:p>
          <a:p/>
          <a:p>
            <a:r>
              <a:t>【来源与核对】</a:t>
            </a:r>
          </a:p>
          <a:p>
            <a:r>
              <a:t>教材p.261开头与式(4.7.28)；动机表述经过简化。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【本页目标】读懂增广目标函数</a:t>
            </a:r>
          </a:p>
          <a:p/>
          <a:p>
            <a:r>
              <a:t>【讲稿】</a:t>
            </a:r>
          </a:p>
          <a:p>
            <a:r>
              <a:t>本节选择最常用的二次罚函数，得到页面上的增广拉格朗日函数。第一项是原始任务，第二项是乘子和约束残差的内积，第三项是残差平方。这里λ是等式约束的乘子，因此可以为正，也可以为负；ρ必须为正。当约束写成Ax等于b时，把h替换为Ax减b即可。还可以做两个形式上的检查：去掉罚项，回到普通拉格朗日目标；把乘子设为零，目标就只剩原目标和罚项。但这只是目标形式的关系，不等于整套更新算法自动退化。</a:t>
            </a:r>
          </a:p>
          <a:p/>
          <a:p>
            <a:r>
              <a:t>【讲解提示】</a:t>
            </a:r>
          </a:p>
          <a:p>
            <a:r>
              <a:t>依次指向三个公式项。符号h表示约束函数，不是后面混合约束右端的向量。</a:t>
            </a:r>
          </a:p>
          <a:p/>
          <a:p>
            <a:r>
              <a:t>【过渡】</a:t>
            </a:r>
          </a:p>
          <a:p>
            <a:r>
              <a:t>函数构造好后，每一轮需要做两件事。</a:t>
            </a:r>
          </a:p>
          <a:p/>
          <a:p>
            <a:r>
              <a:t>【来源与核对】</a:t>
            </a:r>
          </a:p>
          <a:p>
            <a:r>
              <a:t>教材p.261式(4.7.28)、(4.7.31)。一般罚函数在PPT中专门化为φ(h)=½‖h‖²。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【本页目标】掌握ALM的两步更新</a:t>
            </a:r>
          </a:p>
          <a:p/>
          <a:p>
            <a:r>
              <a:t>【讲稿】</a:t>
            </a:r>
          </a:p>
          <a:p>
            <a:r>
              <a:t>第一步固定旧乘子λk，求增广目标关于x的极小点。第二步计算新x对应的约束残差，再用它更新乘子。这里特别注意次序：乘子更新用的是新点x的残差，不是旧点的残差。若已经满足约束，乘子就不再变化；若仍违反约束，乘子继续调整。这个残差累积机制，是它与固定罚函数最重要的区别。本页用固定ρ便于理解，教材也允许按轮次选择ρk。实际中x子问题可能用迭代法近似求解，但精度要求会影响收敛结论。</a:t>
            </a:r>
          </a:p>
          <a:p/>
          <a:p>
            <a:r>
              <a:t>【讲解提示】</a:t>
            </a:r>
          </a:p>
          <a:p>
            <a:r>
              <a:t>指出上标k表示迭代次数。先解释机制，不把argmin当成一次普通梯度下降。</a:t>
            </a:r>
          </a:p>
          <a:p/>
          <a:p>
            <a:r>
              <a:t>【过渡】</a:t>
            </a:r>
          </a:p>
          <a:p>
            <a:r>
              <a:t>用一个一维例子，就能看到乘子更新到底带来了什么。</a:t>
            </a:r>
          </a:p>
          <a:p/>
          <a:p>
            <a:r>
              <a:t>【来源与核对】</a:t>
            </a:r>
          </a:p>
          <a:p>
            <a:r>
              <a:t>教材式(4.7.29)、(4.7.30)，∇λLρ=h(x)。集合argmin可能有多个点，采用“∈”更严谨。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【本页目标】用数值说明乘子能消除固定罚参数的偏差</a:t>
            </a:r>
          </a:p>
          <a:p/>
          <a:p>
            <a:r>
              <a:t>【讲稿】</a:t>
            </a:r>
          </a:p>
          <a:p>
            <a:r>
              <a:t>我们希望x靠近2，但约束又要求x等于0。固定ρ等于1时，只用二次罚函数，导数方程给出x等于1，目标和约束做了折中，却没有真正满足约束。加入乘子后，x的更新变成二减λ再除以二。从λ零等于零开始，第一轮x是一、乘子是一；第二轮x是二分之一、乘子是一点五；第三轮x是四分之一、乘子是一点七五。可以看到，ρ始终没有增加，但残差不断减半，x趋向可行解零，乘子趋向二。</a:t>
            </a:r>
          </a:p>
          <a:p/>
          <a:p>
            <a:r>
              <a:t>【讲解提示】</a:t>
            </a:r>
          </a:p>
          <a:p>
            <a:r>
              <a:t>可在口头停顿，让同学预测下一轮x=0.125。此例的减半只是具体算例的性质。</a:t>
            </a:r>
          </a:p>
          <a:p/>
          <a:p>
            <a:r>
              <a:t>【过渡】</a:t>
            </a:r>
          </a:p>
          <a:p>
            <a:r>
              <a:t>教材进一步讨论：在什么条件下，这种迭代能够较快收敛？</a:t>
            </a:r>
          </a:p>
          <a:p/>
          <a:p>
            <a:r>
              <a:t>【来源与核对】</a:t>
            </a:r>
          </a:p>
          <a:p>
            <a:r>
              <a:t>自行构造的教学例子，非教材原例。一般ρ时x^{k+1}=(2−λ^k)/(1+ρ)，λ*=2。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【建议用时】60 秒</a:t>
            </a:r>
          </a:p>
          <a:p>
            <a:r>
              <a:t>【本页目标】准确理解教材的局部收敛结论</a:t>
            </a:r>
          </a:p>
          <a:p/>
          <a:p>
            <a:r>
              <a:t>【讲稿】</a:t>
            </a:r>
          </a:p>
          <a:p>
            <a:r>
              <a:t>教材给出的收敛结论是有条件的局部结论。假设包括目标和约束在解附近足够光滑、约束梯度线性无关，以及二阶充分条件等。第一种情形，ρk趋于一个有限值，教材给出乘子相邻误差比的上界M除以这个极限值。当这个值足够大，使比例小于一时，对应线性收敛。第二种情形，ρk趋于无穷时，在相应条件下误差比趋于零，得到超线性收敛。工程上更重要的含义是：通过乘子更新，不一定要把惩罚参数无限增大；但如果把ρ选得很大，子问题仍然可能变得难求。</a:t>
            </a:r>
          </a:p>
          <a:p/>
          <a:p>
            <a:r>
              <a:t>【讲解提示】</a:t>
            </a:r>
          </a:p>
          <a:p>
            <a:r>
              <a:t>强调“局部”“在假设下”“充分大”。不要把ALM的局部乘子速率直接套用到ADMM。</a:t>
            </a:r>
          </a:p>
          <a:p/>
          <a:p>
            <a:r>
              <a:t>【过渡】</a:t>
            </a:r>
          </a:p>
          <a:p>
            <a:r>
              <a:t>除了等式约束，教材还处理等式和不等式同时存在的情形。</a:t>
            </a:r>
          </a:p>
          <a:p/>
          <a:p>
            <a:r>
              <a:t>【来源与核对】</a:t>
            </a:r>
          </a:p>
          <a:p>
            <a:r>
              <a:t>教材p.262；式(4.7.32)为limsup‖λ^{k+1}−λ*‖/‖λ^k−λ*‖≤M/ρ̄。对教材“病态不存在”的表述作保守解释。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【本页目标】理解不等式转化及其记号</a:t>
            </a:r>
          </a:p>
          <a:p/>
          <a:p>
            <a:r>
              <a:t>【讲稿】</a:t>
            </a:r>
          </a:p>
          <a:p>
            <a:r>
              <a:t>如果同时存在Ax等于b和Bx小于等于h，我们可以引入一个非负松弛变量q，使Bx加q等于h。q表示约束还剩多少空间，例如容量上限减去当前占用量。这样就得到两组等式残差，分别配上乘子和二次罚项，并在更新q时保留非负约束。教材用s表示松弛变量，但下一节又用s表示对偶残差，为了讲解清楚，这里把松弛变量改记为q。等式Ax等于b的乘子λ不受符号限制；原不等式对应的最优乘子ν满足非负性。完整四步更新放在附录，主讲时掌握这个转换即可。</a:t>
            </a:r>
          </a:p>
          <a:p/>
          <a:p>
            <a:r>
              <a:t>【讲解提示】</a:t>
            </a:r>
          </a:p>
          <a:p>
            <a:r>
              <a:t>主讲不展开完整增广式。若被问到符号限制，说明λ自由，ν在KKT处非负；投影松弛更新也可保证新ν非负。</a:t>
            </a:r>
          </a:p>
          <a:p/>
          <a:p>
            <a:r>
              <a:t>【过渡】</a:t>
            </a:r>
          </a:p>
          <a:p>
            <a:r>
              <a:t>现在考虑另一种结构：目标函数本身可以拆成两部分。</a:t>
            </a:r>
          </a:p>
          <a:p/>
          <a:p>
            <a:r>
              <a:t>【来源与核对】</a:t>
            </a:r>
          </a:p>
          <a:p>
            <a:r>
              <a:t>教材式(4.7.34)—(4.7.39)。修正p.263把等式乘子λ写成非负的笔误；对x更新中的未固定松弛量采用q^k。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【本页目标】理解ADMM为什么需要交替更新</a:t>
            </a:r>
          </a:p>
          <a:p/>
          <a:p>
            <a:r>
              <a:t>【讲稿】</a:t>
            </a:r>
          </a:p>
          <a:p>
            <a:r>
              <a:t>这一节考虑目标为f(x)加g(z)，而两块变量通过Ax加Bz等于c关联的情形。比如一项负责拟合数据，一项负责稀疏性。虽然目标是分开的，但加上二次罚项后，Ax和Bz在同一个范数里，变量仍然耦合。若直接套用ALM，每轮需要对x和z联合最小化。ADMM则利用分块结构：先固定旧z求x，再用新x求z，最后更新共同的乘子。这样把一个联合子问题拆成两个通常更容易处理的子问题。</a:t>
            </a:r>
          </a:p>
          <a:p/>
          <a:p>
            <a:r>
              <a:t>【讲解提示】</a:t>
            </a:r>
          </a:p>
          <a:p>
            <a:r>
              <a:t>提醒“适合分布式结构”不等于“标准x、z两步可无条件同时并行”。不要把多块情形的结论直接迁移过来。</a:t>
            </a:r>
          </a:p>
          <a:p/>
          <a:p>
            <a:r>
              <a:t>【过渡】</a:t>
            </a:r>
          </a:p>
          <a:p>
            <a:r>
              <a:t>下一页把这一轮顺序更新完整写出。</a:t>
            </a:r>
          </a:p>
          <a:p/>
          <a:p>
            <a:r>
              <a:t>【来源与核对】</a:t>
            </a:r>
          </a:p>
          <a:p>
            <a:r>
              <a:t>教材p.264的式(4.7.42)、(4.7.43)；对p.264一般多块分解的独立并行表述作必要澄清。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【建议用时】90 秒</a:t>
            </a:r>
          </a:p>
          <a:p>
            <a:r>
              <a:t>【本页目标】掌握标准两块ADMM更新的先后关系</a:t>
            </a:r>
          </a:p>
          <a:p/>
          <a:p>
            <a:r>
              <a:t>【讲稿】</a:t>
            </a:r>
          </a:p>
          <a:p>
            <a:r>
              <a:t>上方是两块变量的增广拉格朗日函数。第一步固定旧z和旧乘子，求新的x。第二步固定刚算出的新x和旧乘子，求新的z。第三步用两个新变量组成的残差更新乘子。这里最容易出错的是第二步的x，必须是k加一次；第三步也必须用两块最新结果。与ALM相比，ALM需要把x和z作为一个整体来求解增广子问题，ADMM每轮只做一次这样的分块顺序更新。它的价值在于分块后可能得到闭式解、近端操作或者更小的线性方程组。</a:t>
            </a:r>
          </a:p>
          <a:p/>
          <a:p>
            <a:r>
              <a:t>【讲解提示】</a:t>
            </a:r>
          </a:p>
          <a:p>
            <a:r>
              <a:t>依次指三个步骤。若时间充足，问“第二步用新x还是旧x？”让学生回答。对照教材时说明式(4.7.49)右端b已统一改为c。</a:t>
            </a:r>
          </a:p>
          <a:p/>
          <a:p>
            <a:r>
              <a:t>【过渡】</a:t>
            </a:r>
          </a:p>
          <a:p>
            <a:r>
              <a:t>得到更新公式后，还需要能判断程序是否已经收敛。</a:t>
            </a:r>
          </a:p>
          <a:p/>
          <a:p>
            <a:r>
              <a:t>【来源与核对】</a:t>
            </a:r>
          </a:p>
          <a:p>
            <a:r>
              <a:t>教材式(4.7.47)—(4.7.49)。ρ按固定正数表述；argmin写成集合成员关系。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【本页目标】区分可行性与最优性两个停止要求</a:t>
            </a:r>
          </a:p>
          <a:p/>
          <a:p>
            <a:r>
              <a:t>【讲稿】</a:t>
            </a:r>
          </a:p>
          <a:p>
            <a:r>
              <a:t>原始残差就是Ax加Bz减c，它回答的是约束有没有满足。对偶残差包含相邻两轮z的变化，它来自分块最小化的一阶最优性条件，回答的是当前点距离完整驻点条件还有多大偏差。需要注意，对偶残差并不简单等于乘子本身的变化。停止时，两种残差的范数都要小于各自阈值。如果只看目标值，可能目标变化很小但约束还没满足；如果只看原始残差，也可能已经可行却还没达到最优。实际实现可结合绝对误差与相对误差设置阈值。</a:t>
            </a:r>
          </a:p>
          <a:p/>
          <a:p>
            <a:r>
              <a:t>【讲解提示】</a:t>
            </a:r>
          </a:p>
          <a:p>
            <a:r>
              <a:t>把两个问题分开讲，再强调“同时”。教材与某些文献的s符号相反，但范数判据相同。完整推导见附录A1。</a:t>
            </a:r>
          </a:p>
          <a:p/>
          <a:p>
            <a:r>
              <a:t>【过渡】</a:t>
            </a:r>
          </a:p>
          <a:p>
            <a:r>
              <a:t>为了写程序更简洁，还可以把乘子做一次缩放。</a:t>
            </a:r>
          </a:p>
          <a:p/>
          <a:p>
            <a:r>
              <a:t>【来源与核对】</a:t>
            </a:r>
          </a:p>
          <a:p>
            <a:r>
              <a:t>教材式(4.7.50)—(4.7.53)；本PPT采用s=ρAᵀB(z^k−z^{k+1})。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【建议用时】75 秒</a:t>
            </a:r>
          </a:p>
          <a:p>
            <a:r>
              <a:t>【本页目标】解释缩放ADMM及残差累计含义</a:t>
            </a:r>
          </a:p>
          <a:p/>
          <a:p>
            <a:r>
              <a:t>【讲稿】</a:t>
            </a:r>
          </a:p>
          <a:p>
            <a:r>
              <a:t>令u等于λ除以ρ，对增广函数配平方，去掉与当前求解变量无关的常数，就得到页面上的形式。这样x和z两步都只剩原目标加一个平方项，代码更紧凑。乘子更新也简化成u的新值等于旧值加新残差。所以u可以理解为历次约束偏差的累积：过去持续违反某一方向的约束，会对之后的优化形成持续修正。本页固定ρ，这样才能直接写出累计和。如果程序里改变ρ，就要保持λ等于ρ乘u的关系，不能机械沿用未经调整的u。</a:t>
            </a:r>
          </a:p>
          <a:p/>
          <a:p>
            <a:r>
              <a:t>【讲解提示】</a:t>
            </a:r>
          </a:p>
          <a:p>
            <a:r>
              <a:t>本页教材使用ν表示缩放乘子，这里改用常见记号u，避免与混合约束乘子ν混淆。配平方细节可口述，不必在主页面展开。</a:t>
            </a:r>
          </a:p>
          <a:p/>
          <a:p>
            <a:r>
              <a:t>【过渡】</a:t>
            </a:r>
          </a:p>
          <a:p>
            <a:r>
              <a:t>下面用一个“数据拟合加稀疏化”的问题看看这三步为什么容易实现。</a:t>
            </a:r>
          </a:p>
          <a:p/>
          <a:p>
            <a:r>
              <a:t>【来源与核对】</a:t>
            </a:r>
          </a:p>
          <a:p>
            <a:r>
              <a:t>式(4.7.54)—(4.7.57)；教材ν=λ/ρ，本PPT写u=λ/ρ。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【建议用时】90 秒</a:t>
            </a:r>
          </a:p>
          <a:p>
            <a:r>
              <a:t>【本页目标】通过可实现的例子理解分裂价值</a:t>
            </a:r>
          </a:p>
          <a:p/>
          <a:p>
            <a:r>
              <a:t>【讲稿】</a:t>
            </a:r>
          </a:p>
          <a:p>
            <a:r>
              <a:t>考虑一个简单的稀疏去噪问题：第一项要求结果靠近观测a，第二项用一范数鼓励小分量变成零。我们引入x和z两份变量，用x减z等于零保证它们最终表示同一个解。这里A是单位阵，B是负单位阵，c为零。代入缩放ADMM，x步是一个二次问题，直接解一阶方程就得到加权平均；z步是软阈值，按分量把绝对值缩小，不足阈值的设为零；最后u累计x和z之间的不一致。这个问题本身也有直接软阈值解，因此适合用来核验ADMM；真正复杂问题中，分裂的意义是分别利用两部分结构。</a:t>
            </a:r>
          </a:p>
          <a:p/>
          <a:p>
            <a:r>
              <a:t>【讲解提示】</a:t>
            </a:r>
          </a:p>
          <a:p>
            <a:r>
              <a:t>给一个软阈值口算：阈值1时，3变2，−0.5变0。强调该例为教学补充，不是教材原例。</a:t>
            </a:r>
          </a:p>
          <a:p/>
          <a:p>
            <a:r>
              <a:t>【过渡】</a:t>
            </a:r>
          </a:p>
          <a:p>
            <a:r>
              <a:t>取三个数字就可以观察残差如何下降，并验证停止准则。</a:t>
            </a:r>
          </a:p>
          <a:p/>
          <a:p>
            <a:r>
              <a:t>【来源与核对】</a:t>
            </a:r>
          </a:p>
          <a:p>
            <a:r>
              <a:t>自拟示例；S_t(v)_i=sign(v_i)·max(|v_i|−t,0)。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【建议用时】60 秒</a:t>
            </a:r>
          </a:p>
          <a:p>
            <a:r>
              <a:t>【本页目标】将停止准则与数值实现联系起来</a:t>
            </a:r>
          </a:p>
          <a:p/>
          <a:p>
            <a:r>
              <a:t>【讲稿】</a:t>
            </a:r>
          </a:p>
          <a:p>
            <a:r>
              <a:t>这里取观测向量三、负一和零点二，正则参数与惩罚参数都为一，初始z和u为零。解析解是对a做阈值为一的软阈值，因此答案为二、零、零。左图采用对数纵轴，画出了原始残差和对偶残差；两条曲线都要下降到虚线阈值以下。此例使用两种残差都不超过千分之一的简单停止判据，第十二轮满足。这个阈值是教学设置；大规模问题还应该考虑量纲与相对误差。图中的下降速度只是这个特定例子的表现，不能当成一般ADMM速率定理。</a:t>
            </a:r>
          </a:p>
          <a:p/>
          <a:p>
            <a:r>
              <a:t>【讲解提示】</a:t>
            </a:r>
          </a:p>
          <a:p>
            <a:r>
              <a:t>指出虚线是10⁻³阈值，确认两条曲线均越过。若时间不足，只讲解析解与“两条都检查”。</a:t>
            </a:r>
          </a:p>
          <a:p/>
          <a:p>
            <a:r>
              <a:t>【过渡】</a:t>
            </a:r>
          </a:p>
          <a:p>
            <a:r>
              <a:t>最后把两节内容放在一起，记住各方法分别解决什么问题。</a:t>
            </a:r>
          </a:p>
          <a:p/>
          <a:p>
            <a:r>
              <a:t>【来源与核对】</a:t>
            </a:r>
          </a:p>
          <a:p>
            <a:r>
              <a:t>脚本复现的自拟例子，未使用外部数据；ADMM迭代20轮，原始残差‖x−z‖₂，对偶残差ρ‖z^{k+1}−z^k‖₂。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【建议用时】60 秒</a:t>
            </a:r>
          </a:p>
          <a:p>
            <a:r>
              <a:t>【本页目标】形成可带走的三条判断原则</a:t>
            </a:r>
          </a:p>
          <a:p/>
          <a:p>
            <a:r>
              <a:t>【讲稿】</a:t>
            </a:r>
          </a:p>
          <a:p>
            <a:r>
              <a:t>回顾今天的主线。罚函数通过加大违反约束的代价来逼近可行；ALM在罚项之外更新乘子，使固定或有限惩罚参数也有机会得到准确的约束处理；ADMM进一步利用目标和变量的分块结构，把联合求解拆成两次顺序求解。遇到一个新问题，可以依次问三个问题：第一，结构能不能拆；第二，更新顺序和新旧变量有没有写对；第三，两种残差是否都检查了。最后提醒，算法的收敛保证仍依赖相应条件，不能把这里的局部ALM结论或数值例子泛化到任意多块、非凸问题。</a:t>
            </a:r>
          </a:p>
          <a:p/>
          <a:p>
            <a:r>
              <a:t>【讲解提示】</a:t>
            </a:r>
          </a:p>
          <a:p>
            <a:r>
              <a:t>按三行比较，而不是逐格读表。强调ADMM每轮便宜不代表总迭代次数一定更少。</a:t>
            </a:r>
          </a:p>
          <a:p/>
          <a:p>
            <a:r>
              <a:t>【过渡】</a:t>
            </a:r>
          </a:p>
          <a:p>
            <a:r>
              <a:t>以上是本次汇报，下面欢迎提问。</a:t>
            </a:r>
          </a:p>
          <a:p/>
          <a:p>
            <a:r>
              <a:t>【来源与核对】</a:t>
            </a:r>
          </a:p>
          <a:p>
            <a:r>
              <a:t>综合教材4.7.3—4.7.4。教材未在本节给出适用于任意多块/非凸问题的ADMM收敛定理。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【建议用时】15 秒</a:t>
            </a:r>
          </a:p>
          <a:p>
            <a:r>
              <a:t>【本页目标】结束主讲并进入问答</a:t>
            </a:r>
          </a:p>
          <a:p/>
          <a:p>
            <a:r>
              <a:t>【讲稿】</a:t>
            </a:r>
          </a:p>
          <a:p>
            <a:r>
              <a:t>以上就是本次关于增广拉格朗日乘子法和ADMM的汇报，谢谢老师和同学，敬请批评指正。</a:t>
            </a:r>
          </a:p>
          <a:p/>
          <a:p>
            <a:r>
              <a:t>【讲解提示】</a:t>
            </a:r>
          </a:p>
          <a:p>
            <a:r>
              <a:t>主讲到此结束。后有3页默认隐藏的附录：A1残差推导；A2混合约束更新；A3教材记号与勘误。若需要答疑，可在演讲者视图中用“查看所有幻灯片”跳转，或在编辑视图中取消隐藏。</a:t>
            </a:r>
          </a:p>
          <a:p/>
          <a:p>
            <a:r>
              <a:t>【过渡】</a:t>
            </a:r>
          </a:p>
          <a:p>
            <a:r>
              <a:t>如果被问到对偶残差的来源，使用附录A1。</a:t>
            </a:r>
          </a:p>
          <a:p/>
          <a:p>
            <a:r>
              <a:t>【来源与核对】</a:t>
            </a:r>
          </a:p>
          <a:p>
            <a:r>
              <a:t>模板结束页视觉元素；内容自行编排。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【建议用时】0 秒</a:t>
            </a:r>
          </a:p>
          <a:p>
            <a:r>
              <a:t>【本页目标】备查：从KKT推出对偶残差</a:t>
            </a:r>
          </a:p>
          <a:p/>
          <a:p>
            <a:r>
              <a:t>【讲稿】</a:t>
            </a:r>
          </a:p>
          <a:p>
            <a:r>
              <a:t>本页不计入主讲。对于凸问题，最优点需要满足原始可行性和两块变量的驻点条件。x更新时用的是旧z，因此它的一阶条件中出现Bz的旧值。把新乘子λ^{k+1}=λ^k+ρ(Ax^{k+1}+Bz^{k+1}−c)代入后，就多出一项ρAᵀB(z^k−z^{k+1})。这就是本PPT采用的对偶残差。z更新使用新x，所以在精确求解时，它的驻点条件与新乘子直接一致。</a:t>
            </a:r>
          </a:p>
          <a:p/>
          <a:p>
            <a:r>
              <a:t>【讲解提示】</a:t>
            </a:r>
          </a:p>
          <a:p>
            <a:r>
              <a:t>答疑时讲，正常放映默认隐藏。严格的充分性还需凸性，KKT存在性需要相应正则性或鞍点等条件。</a:t>
            </a:r>
          </a:p>
          <a:p/>
          <a:p>
            <a:r>
              <a:t>【过渡】</a:t>
            </a:r>
          </a:p>
          <a:p>
            <a:r>
              <a:t>返回总结或结束页。</a:t>
            </a:r>
          </a:p>
          <a:p/>
          <a:p>
            <a:r>
              <a:t>【来源与核对】</a:t>
            </a:r>
          </a:p>
          <a:p>
            <a:r>
              <a:t>教材式(4.7.45)、(4.7.46)印刷符号有误，采用维度一致的标准KKT式；p.265驻点推导补齐Aᵀ。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【建议用时】0 秒</a:t>
            </a:r>
          </a:p>
          <a:p>
            <a:r>
              <a:t>【本页目标】备查：完整的混合约束更新</a:t>
            </a:r>
          </a:p>
          <a:p/>
          <a:p>
            <a:r>
              <a:t>【讲稿】</a:t>
            </a:r>
          </a:p>
          <a:p>
            <a:r>
              <a:t>本页不计入主讲。按教材的顺序更新结构，先固定旧松弛变量q及乘子求x，再在非负正交域上最小化q子问题。q步是一个简单投影，因此可以写成括号中各分量与零取最大值。然后分别用两组等式残差更新λ和ν。代入q的投影表达式，可以得到ν^{k+1}=max(ν^k+ρ(Bx^{k+1}−h),0)，从而新ν非负。注意，这里是教材混合约束的交替更新写法，不应与把x和q联合精确最小化的ALM混为一谈。</a:t>
            </a:r>
          </a:p>
          <a:p/>
          <a:p>
            <a:r>
              <a:t>【讲解提示】</a:t>
            </a:r>
          </a:p>
          <a:p>
            <a:r>
              <a:t>如果质疑教材λ≥0，解释等式乘子无符号限制。ρ固定，若用ρk，各步保持同一轮参数一致即可。</a:t>
            </a:r>
          </a:p>
          <a:p/>
          <a:p>
            <a:r>
              <a:t>【过渡】</a:t>
            </a:r>
          </a:p>
          <a:p>
            <a:r>
              <a:t>返回第8页或结束页。</a:t>
            </a:r>
          </a:p>
          <a:p/>
          <a:p>
            <a:r>
              <a:t>【来源与核对】</a:t>
            </a:r>
          </a:p>
          <a:p>
            <a:r>
              <a:t>教材式(4.7.36)中的松弛变量未标轮次，本页明确为q^k；式(4.7.37)进一步写出投影闭式解。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【建议用时】0 秒</a:t>
            </a:r>
          </a:p>
          <a:p>
            <a:r>
              <a:t>【本页目标】备查：交代教材来源及公式校正</a:t>
            </a:r>
          </a:p>
          <a:p/>
          <a:p>
            <a:r>
              <a:t>【讲稿】</a:t>
            </a:r>
          </a:p>
          <a:p>
            <a:r>
              <a:t>本页用于备课与答疑，不计入主讲。内容依据用户提供的教材扫描节选，印刷页261到266，上传文件名中的279到284是电子文件页序，与印刷页码不同。排版参考用户提供的《平滑凸优化的一阶算法(2)》模板，但该模板的Nesterov内容没有沿用。公式校正基于一致的约束记号和维度检查，并未改变教材这两节的主线。除页面列出的修改外，p.265的x最优性条件中补齐了Aᵀ，有限惩罚参数的线性收敛明确保留充分大参数和局部假设。</a:t>
            </a:r>
          </a:p>
          <a:p/>
          <a:p>
            <a:r>
              <a:t>【讲解提示】</a:t>
            </a:r>
          </a:p>
          <a:p>
            <a:r>
              <a:t>备查页默认隐藏。若需展示全文，可在编辑视图取消隐藏或从查看所有幻灯片跳转。</a:t>
            </a:r>
          </a:p>
          <a:p/>
          <a:p>
            <a:r>
              <a:t>【过渡】</a:t>
            </a:r>
          </a:p>
          <a:p>
            <a:r>
              <a:t>返回结束页。</a:t>
            </a:r>
          </a:p>
          <a:p/>
          <a:p>
            <a:r>
              <a:t>【来源与核对】</a:t>
            </a:r>
          </a:p>
          <a:p>
            <a:r>
              <a:t>唯一教材来源为用户上传PDF；模板为用户上传PPTX；两个数值例子自行推导。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12725" y="2302510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02750" y="6356350"/>
            <a:ext cx="2743200" cy="365125"/>
          </a:xfrm>
        </p:spPr>
        <p:txBody>
          <a:bodyPr/>
          <a:lstStyle/>
          <a:p>
            <a:fld id="{97AA5570-5C36-4F12-A1EB-4155A99A1666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0" r="390"/>
          <a:stretch>
            <a:fillRect/>
          </a:stretch>
        </p:blipFill>
        <p:spPr>
          <a:xfrm>
            <a:off x="9596438" y="283369"/>
            <a:ext cx="2286007" cy="65960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1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13232"/>
            <a:ext cx="3044952" cy="8961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660904"/>
            <a:ext cx="109270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3400" b="1">
                <a:solidFill>
                  <a:srgbClr val="FFFFFF"/>
                </a:solidFill>
                <a:latin typeface="Noto Sans CJK SC"/>
              </a:defRPr>
            </a:pPr>
            <a:r>
              <a:rPr sz="3400" b="1">
                <a:solidFill>
                  <a:srgbClr val="FFFFFF"/>
                </a:solidFill>
                <a:latin typeface="Noto Sans CJK SC"/>
                <a:ea typeface="Noto Sans CJK SC"/>
              </a:rPr>
              <a:t>增广 Lagrangian 乘子法与 ADMM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511296"/>
            <a:ext cx="9811512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0">
                <a:solidFill>
                  <a:srgbClr val="FFFFFF"/>
                </a:solidFill>
                <a:latin typeface="Noto Sans CJK SC"/>
              </a:defRPr>
            </a:pPr>
            <a:r>
              <a:rPr sz="2400" b="0">
                <a:solidFill>
                  <a:srgbClr val="FFFFFF"/>
                </a:solidFill>
                <a:latin typeface="Noto Sans CJK SC"/>
                <a:ea typeface="Noto Sans CJK SC"/>
              </a:rPr>
              <a:t>从“惩罚违约”到“分块协调”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102352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01561F"/>
                </a:solidFill>
                <a:latin typeface="Noto Sans CJK SC"/>
              </a:defRPr>
            </a:pPr>
            <a:r>
              <a:rPr sz="2000" b="0">
                <a:solidFill>
                  <a:srgbClr val="01561F"/>
                </a:solidFill>
                <a:latin typeface="Noto Sans CJK SC"/>
                <a:ea typeface="Noto Sans CJK SC"/>
              </a:rPr>
              <a:t>《矩阵分析与应用》（第2版）  4.7.3—4.7.4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596128"/>
            <a:ext cx="99943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600" b="0">
                <a:solidFill>
                  <a:srgbClr val="62756A"/>
                </a:solidFill>
                <a:latin typeface="Noto Sans CJK SC"/>
              </a:defRPr>
            </a:pPr>
            <a:r>
              <a:rPr sz="1600" b="0">
                <a:solidFill>
                  <a:srgbClr val="62756A"/>
                </a:solidFill>
                <a:latin typeface="Noto Sans CJK SC"/>
                <a:ea typeface="Noto Sans CJK SC"/>
              </a:rPr>
              <a:t>课堂汇报  ·  约 18 分钟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_shap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67328" y="0"/>
            <a:ext cx="8430768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2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649224"/>
            <a:ext cx="1563624" cy="15453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2920" y="2834640"/>
            <a:ext cx="27432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3300" b="1">
                <a:solidFill>
                  <a:srgbClr val="FFFFFF"/>
                </a:solidFill>
                <a:latin typeface="Noto Sans CJK SC"/>
              </a:defRPr>
            </a:pPr>
            <a:r>
              <a:rPr sz="3300" b="1">
                <a:solidFill>
                  <a:srgbClr val="FFFFFF"/>
                </a:solidFill>
                <a:latin typeface="Noto Sans CJK SC"/>
                <a:ea typeface="Noto Sans CJK SC"/>
              </a:rPr>
              <a:t>汇报主线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118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Noto Sans CJK SC"/>
              </a:defRPr>
            </a:pPr>
            <a:r>
              <a:rPr sz="2000" b="0">
                <a:solidFill>
                  <a:srgbClr val="FFFFFF"/>
                </a:solidFill>
                <a:latin typeface="Noto Sans CJK SC"/>
                <a:ea typeface="Noto Sans CJK SC"/>
              </a:rPr>
              <a:t>四个问题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34840" y="9326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900" b="1">
                <a:solidFill>
                  <a:srgbClr val="01561F"/>
                </a:solidFill>
                <a:latin typeface="Noto Sans CJK SC"/>
              </a:defRPr>
            </a:pPr>
            <a:r>
              <a:rPr sz="2900" b="1">
                <a:solidFill>
                  <a:srgbClr val="01561F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950976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243A2F"/>
                </a:solidFill>
                <a:latin typeface="Noto Sans CJK SC"/>
              </a:defRPr>
            </a:pPr>
            <a:r>
              <a:rPr sz="2500" b="1">
                <a:solidFill>
                  <a:srgbClr val="243A2F"/>
                </a:solidFill>
                <a:latin typeface="Noto Sans CJK SC"/>
                <a:ea typeface="Noto Sans CJK SC"/>
              </a:rPr>
              <a:t>为什么要增广？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9240" y="1435608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62756A"/>
                </a:solidFill>
                <a:latin typeface="Noto Sans CJK SC"/>
              </a:defRPr>
            </a:pPr>
            <a:r>
              <a:rPr sz="1800" b="0">
                <a:solidFill>
                  <a:srgbClr val="62756A"/>
                </a:solidFill>
                <a:latin typeface="Noto Sans CJK SC"/>
                <a:ea typeface="Noto Sans CJK SC"/>
              </a:rPr>
              <a:t>把乘子校正与二次罚项结合起来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34840" y="1965960"/>
            <a:ext cx="690372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34840" y="21945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900" b="1">
                <a:solidFill>
                  <a:srgbClr val="01561F"/>
                </a:solidFill>
                <a:latin typeface="Noto Sans CJK SC"/>
              </a:defRPr>
            </a:pPr>
            <a:r>
              <a:rPr sz="2900" b="1">
                <a:solidFill>
                  <a:srgbClr val="01561F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212848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243A2F"/>
                </a:solidFill>
                <a:latin typeface="Noto Sans CJK SC"/>
              </a:defRPr>
            </a:pPr>
            <a:r>
              <a:rPr sz="2500" b="1">
                <a:solidFill>
                  <a:srgbClr val="243A2F"/>
                </a:solidFill>
                <a:latin typeface="Noto Sans CJK SC"/>
                <a:ea typeface="Noto Sans CJK SC"/>
              </a:rPr>
              <a:t>ALM 怎样更新？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69748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62756A"/>
                </a:solidFill>
                <a:latin typeface="Noto Sans CJK SC"/>
              </a:defRPr>
            </a:pPr>
            <a:r>
              <a:rPr sz="1800" b="0">
                <a:solidFill>
                  <a:srgbClr val="62756A"/>
                </a:solidFill>
                <a:latin typeface="Noto Sans CJK SC"/>
                <a:ea typeface="Noto Sans CJK SC"/>
              </a:rPr>
              <a:t>先更新原始变量，再用残差更新乘子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3227832"/>
            <a:ext cx="690372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34840" y="3456432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900" b="1">
                <a:solidFill>
                  <a:srgbClr val="01561F"/>
                </a:solidFill>
                <a:latin typeface="Noto Sans CJK SC"/>
              </a:defRPr>
            </a:pPr>
            <a:r>
              <a:rPr sz="2900" b="1">
                <a:solidFill>
                  <a:srgbClr val="01561F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3474720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243A2F"/>
                </a:solidFill>
                <a:latin typeface="Noto Sans CJK SC"/>
              </a:defRPr>
            </a:pPr>
            <a:r>
              <a:rPr sz="2500" b="1">
                <a:solidFill>
                  <a:srgbClr val="243A2F"/>
                </a:solidFill>
                <a:latin typeface="Noto Sans CJK SC"/>
                <a:ea typeface="Noto Sans CJK SC"/>
              </a:rPr>
              <a:t>ADMM 怎样分块？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395935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62756A"/>
                </a:solidFill>
                <a:latin typeface="Noto Sans CJK SC"/>
              </a:defRPr>
            </a:pPr>
            <a:r>
              <a:rPr sz="1800" b="0">
                <a:solidFill>
                  <a:srgbClr val="62756A"/>
                </a:solidFill>
                <a:latin typeface="Noto Sans CJK SC"/>
                <a:ea typeface="Noto Sans CJK SC"/>
              </a:rPr>
              <a:t>把一次联合求解拆成两次顺序求解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434840" y="4489704"/>
            <a:ext cx="690372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34840" y="4718304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900" b="1">
                <a:solidFill>
                  <a:srgbClr val="01561F"/>
                </a:solidFill>
                <a:latin typeface="Noto Sans CJK SC"/>
              </a:defRPr>
            </a:pPr>
            <a:r>
              <a:rPr sz="2900" b="1">
                <a:solidFill>
                  <a:srgbClr val="01561F"/>
                </a:solidFill>
                <a:latin typeface="Noto Sans CJK SC"/>
                <a:ea typeface="Noto Sans CJK S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4736592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243A2F"/>
                </a:solidFill>
                <a:latin typeface="Noto Sans CJK SC"/>
              </a:defRPr>
            </a:pPr>
            <a:r>
              <a:rPr sz="2500" b="1">
                <a:solidFill>
                  <a:srgbClr val="243A2F"/>
                </a:solidFill>
                <a:latin typeface="Noto Sans CJK SC"/>
                <a:ea typeface="Noto Sans CJK SC"/>
              </a:rPr>
              <a:t>何时可以停止？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5221224"/>
            <a:ext cx="6035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62756A"/>
                </a:solidFill>
                <a:latin typeface="Noto Sans CJK SC"/>
              </a:defRPr>
            </a:pPr>
            <a:r>
              <a:rPr sz="1800" b="0">
                <a:solidFill>
                  <a:srgbClr val="62756A"/>
                </a:solidFill>
                <a:latin typeface="Noto Sans CJK SC"/>
                <a:ea typeface="Noto Sans CJK SC"/>
              </a:rPr>
              <a:t>同时检查原始残差与对偶残差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为什么要把“乘子”和“罚项”放在一起？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§4.7.3，p.261；以下比较为教学归纳</a:t>
            </a:r>
          </a:p>
        </p:txBody>
      </p:sp>
      <p:pic>
        <p:nvPicPr>
          <p:cNvPr id="7" name="Picture 6" descr="数学公式：\min_x f(x)\quad\mathrm{s.t.}\quad h(x)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152144"/>
            <a:ext cx="4050791" cy="5059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993392"/>
            <a:ext cx="5074920" cy="3127248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普通 Lagrangian</a:t>
            </a:r>
          </a:p>
        </p:txBody>
      </p:sp>
      <p:pic>
        <p:nvPicPr>
          <p:cNvPr id="10" name="Picture 9" descr="数学公式：f(x)+\lambda^{\mathsf{T}}h(x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2779776"/>
            <a:ext cx="2017776" cy="3535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3557016"/>
            <a:ext cx="45720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乘子反映约束的“价格”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原始子问题可能难求，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对偶上升的收敛也可能较慢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993392"/>
            <a:ext cx="5074920" cy="3127248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二次罚函数</a:t>
            </a:r>
          </a:p>
        </p:txBody>
      </p:sp>
      <p:pic>
        <p:nvPicPr>
          <p:cNvPr id="14" name="Picture 13" descr="数学公式：f(x)+\frac{\rho}{2}\|h(x)\|_2^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2779776"/>
            <a:ext cx="2322576" cy="469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3557016"/>
            <a:ext cx="45720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直接惩罚约束违反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通常需增大惩罚参数，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过大的参数可能导致病态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增广的思路：罚项帮助控制残差，乘子持续修正约束偏差。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增广 Lagrangian：三个部分，各司其职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§4.7.3，p.261，式(4.7.28)、(4.7.31)；采用二次罚函数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1554480" cy="320040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29284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等式约束</a:t>
            </a:r>
          </a:p>
        </p:txBody>
      </p:sp>
      <p:pic>
        <p:nvPicPr>
          <p:cNvPr id="9" name="Picture 8" descr="数学公式：L_\rho(x,\lambda)=f(x)+\lambda^{\mathsf{T}}h(x)+\frac{\rho}{2}\|h(x)\|_2^2,\quad\rho&gt;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73936"/>
            <a:ext cx="7403591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614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B88936"/>
                </a:solidFill>
                <a:latin typeface="Noto Sans CJK SC"/>
              </a:defRPr>
            </a:pPr>
            <a:r>
              <a:rPr sz="2500" b="1">
                <a:solidFill>
                  <a:srgbClr val="B88936"/>
                </a:solidFill>
                <a:latin typeface="Noto Sans CJK SC"/>
                <a:ea typeface="Noto Sans CJK SC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2841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原目标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7705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优化任务本身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7614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B88936"/>
                </a:solidFill>
                <a:latin typeface="Noto Sans CJK SC"/>
              </a:defRPr>
            </a:pPr>
            <a:r>
              <a:rPr sz="2500" b="1">
                <a:solidFill>
                  <a:srgbClr val="B88936"/>
                </a:solidFill>
                <a:latin typeface="Noto Sans CJK SC"/>
                <a:ea typeface="Noto Sans CJK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32841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乘子项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87705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用 λ 校正约束偏差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761488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500" b="1">
                <a:solidFill>
                  <a:srgbClr val="B88936"/>
                </a:solidFill>
                <a:latin typeface="Noto Sans CJK SC"/>
              </a:defRPr>
            </a:pPr>
            <a:r>
              <a:rPr sz="2500" b="1">
                <a:solidFill>
                  <a:srgbClr val="B88936"/>
                </a:solidFill>
                <a:latin typeface="Noto Sans CJK SC"/>
                <a:ea typeface="Noto Sans CJK SC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3328416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二次罚项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3877056"/>
            <a:ext cx="3200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用 ρ 惩罚约束残差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60520" y="2788920"/>
            <a:ext cx="0" cy="1728216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891272" y="2788920"/>
            <a:ext cx="0" cy="1728216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77240" y="4892040"/>
            <a:ext cx="10652760" cy="594360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数学公式：h(x)=Ax-b\quad\Longrightarrow\quad L_\rho=f(x)+\lambda^{\mathsf{T}}(Ax-b)+\frac{\rho}{2}\|Ax-b\|_2^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038344"/>
            <a:ext cx="7491984" cy="393192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等式约束的乘子 λ 不受正负号限制；ρ 是正的惩罚参数。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ALM 的一轮：先求 x，再更新乘子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§4.7.3，pp.261—262，式(4.7.29)—(4.7.31)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25880"/>
            <a:ext cx="585216" cy="585216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08176"/>
            <a:ext cx="5852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135331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固定乘子，求原始变量</a:t>
            </a:r>
          </a:p>
        </p:txBody>
      </p:sp>
      <p:pic>
        <p:nvPicPr>
          <p:cNvPr id="10" name="Picture 9" descr="数学公式：x^{k+1}\in\operatorname{arg\,min}_x L_\rho(x,\lambda^k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1993391"/>
            <a:ext cx="44196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45920" y="256032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在当前“价格”下，平衡目标值与约束误差。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246120"/>
            <a:ext cx="585216" cy="585216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28415"/>
            <a:ext cx="58521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FFFFFF"/>
                </a:solidFill>
                <a:latin typeface="Noto Sans CJK SC"/>
              </a:defRPr>
            </a:pPr>
            <a:r>
              <a:rPr sz="23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273551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读取残差，修正乘子</a:t>
            </a:r>
          </a:p>
        </p:txBody>
      </p:sp>
      <p:pic>
        <p:nvPicPr>
          <p:cNvPr id="15" name="Picture 14" descr="数学公式：\lambda^{k+1}=\lambda^k+\rho\,h(x^{k+1}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5920" y="3913631"/>
            <a:ext cx="3886200" cy="4297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645920" y="4480560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约束仍有偏差，就沿偏差方向继续调整乘子。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关键机制：乘子持续积累残差；理论分析需考虑子问题的求解精度。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一个可手算的例子：固定 ρ，也能逐步满足约束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教学补充例子；用于说明教材 §4.7.3 的乘子校正机制</a:t>
            </a:r>
          </a:p>
        </p:txBody>
      </p:sp>
      <p:pic>
        <p:nvPicPr>
          <p:cNvPr id="7" name="Picture 6" descr="数学公式：\min_x\ \frac{1}{2}(x-2)^2\quad\mathrm{s.t.}\ x=0,\qquad \rho=1,\ \lambda^0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79576"/>
            <a:ext cx="7123176" cy="533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1993392"/>
            <a:ext cx="1920240" cy="320040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2539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固定罚函数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42032"/>
            <a:ext cx="3794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只最小化原目标 + 罚项</a:t>
            </a:r>
          </a:p>
        </p:txBody>
      </p:sp>
      <p:pic>
        <p:nvPicPr>
          <p:cNvPr id="11" name="Picture 10" descr="数学公式：x_{\rm penalty}=\frac{2}{1+\rho}=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163824"/>
            <a:ext cx="2819400" cy="518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395935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B88936"/>
                </a:solidFill>
                <a:latin typeface="Noto Sans CJK SC"/>
              </a:defRPr>
            </a:pPr>
            <a:r>
              <a:rPr sz="2200" b="1">
                <a:solidFill>
                  <a:srgbClr val="B88936"/>
                </a:solidFill>
                <a:latin typeface="Noto Sans CJK SC"/>
                <a:ea typeface="Noto Sans CJK SC"/>
              </a:rPr>
              <a:t>仍然违反 x = 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04688" y="1993392"/>
            <a:ext cx="1920240" cy="320040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04688" y="2025396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加入乘子更新</a:t>
            </a:r>
          </a:p>
        </p:txBody>
      </p:sp>
      <p:pic>
        <p:nvPicPr>
          <p:cNvPr id="15" name="Picture 14" descr="数学公式：x^{k+1}=\frac{2-\lambda^k}{2},\qquad \lambda^{k+1}=\lambda^k+x^{k+1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2624328"/>
            <a:ext cx="4648200" cy="417576"/>
          </a:xfrm>
          <a:prstGeom prst="rect">
            <a:avLst/>
          </a:prstGeom>
        </p:spPr>
      </p:pic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504688" y="3429000"/>
          <a:ext cx="580644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057400"/>
                <a:gridCol w="2057400"/>
              </a:tblGrid>
              <a:tr h="4206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轮次 k</a:t>
                      </a:r>
                    </a:p>
                  </a:txBody>
                  <a:tcPr marL="146304" marR="91440" marT="82296" marB="45720" anchor="ctr">
                    <a:solidFill>
                      <a:srgbClr val="015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xᵏ</a:t>
                      </a:r>
                    </a:p>
                  </a:txBody>
                  <a:tcPr marL="146304" marR="91440" marT="82296" marB="45720" anchor="ctr">
                    <a:solidFill>
                      <a:srgbClr val="015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λᵏ</a:t>
                      </a:r>
                    </a:p>
                  </a:txBody>
                  <a:tcPr marL="146304" marR="91440" marT="82296" marB="45720" anchor="ctr">
                    <a:solidFill>
                      <a:srgbClr val="0156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1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0.5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1.5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3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0.25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1.75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趋于 ∞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0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8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2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同样取 ρ = 1：罚函数停在有偏差的位置，ALM 通过乘子把残差逐步压向零。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ALM 的收敛结论，需要带着条件读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§4.7.3，p.262，式(4.7.32)—(4.7.33)；局部结论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33856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243A2F"/>
                </a:solidFill>
                <a:latin typeface="Noto Sans CJK SC"/>
              </a:defRPr>
            </a:pPr>
            <a:r>
              <a:rPr sz="2200" b="1">
                <a:solidFill>
                  <a:srgbClr val="243A2F"/>
                </a:solidFill>
                <a:latin typeface="Noto Sans CJK SC"/>
                <a:ea typeface="Noto Sans CJK SC"/>
              </a:rPr>
              <a:t>前提：光滑性、约束梯度线性无关、二阶充分条件等局部假设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5047488" cy="2907792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惩罚参数趋于有限值</a:t>
            </a:r>
          </a:p>
        </p:txBody>
      </p:sp>
      <p:pic>
        <p:nvPicPr>
          <p:cNvPr id="10" name="Picture 9" descr="数学公式：\rho_k\to\bar\rho&lt;\inft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035808"/>
            <a:ext cx="1905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3840480"/>
            <a:ext cx="459028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当参数充分大、满足收敛条件时，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乘子可局部线性收敛。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103120"/>
            <a:ext cx="5047488" cy="2907792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5902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惩罚参数趋于无穷</a:t>
            </a:r>
          </a:p>
        </p:txBody>
      </p:sp>
      <p:pic>
        <p:nvPicPr>
          <p:cNvPr id="14" name="Picture 13" descr="数学公式：\rho_k\to\inft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3035808"/>
            <a:ext cx="1191768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3840480"/>
            <a:ext cx="4590288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在相应假设下，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乘子可局部超线性收敛。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实际启示：不必一味把 ρ 推到无穷大；也不能认为增广项完全消除了病态。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混合约束：用松弛变量把不等式改写为等式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§4.7.3，p.263，式(4.7.34)—(4.7.39)；完整更新见附录 A2</a:t>
            </a:r>
          </a:p>
        </p:txBody>
      </p:sp>
      <p:pic>
        <p:nvPicPr>
          <p:cNvPr id="7" name="Picture 6" descr="数学公式：\min_x f(x)\quad\mathrm{s.t.}\quad Ax=b,\quad Bx\leq 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207008"/>
            <a:ext cx="5154168" cy="48158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7240" y="2029968"/>
            <a:ext cx="10607040" cy="1005840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数学公式：Bx\leq h\quad\Longleftrightarrow\quad Bx+q=h,\qquad q\geq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350008"/>
            <a:ext cx="6004560" cy="353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4290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0">
                <a:solidFill>
                  <a:srgbClr val="243A2F"/>
                </a:solidFill>
                <a:latin typeface="Noto Sans CJK SC"/>
              </a:defRPr>
            </a:pPr>
            <a:r>
              <a:rPr sz="2300" b="0">
                <a:solidFill>
                  <a:srgbClr val="243A2F"/>
                </a:solidFill>
                <a:latin typeface="Noto Sans CJK SC"/>
                <a:ea typeface="Noto Sans CJK SC"/>
              </a:rPr>
              <a:t>引入 q ≥ 0：把“剩余额度”显式写成一个变量。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1596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原始变量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1947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交替处理 x 与非负松弛变量 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315968"/>
            <a:ext cx="4846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两组乘子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919472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分别校正 Ax−b 与 Bx+q−h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记号约定：本页用 q 表示教材的松弛变量 s，避免与后面的对偶残差混淆。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从 ALM 到 ADMM：目标可分，罚项却会耦合变量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§4.7.4，pp.263—264，重点采用式(4.7.42)—(4.7.43)的两块形式</a:t>
            </a:r>
          </a:p>
        </p:txBody>
      </p:sp>
      <p:pic>
        <p:nvPicPr>
          <p:cNvPr id="7" name="Picture 6" descr="数学公式：\min_{x,z}\ f(x)+g(z)\quad\mathrm{s.t.}\quad Ax+Bz=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88720"/>
            <a:ext cx="5839968" cy="54559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2240280"/>
            <a:ext cx="5047488" cy="2532888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目标函数可分</a:t>
            </a:r>
          </a:p>
        </p:txBody>
      </p:sp>
      <p:pic>
        <p:nvPicPr>
          <p:cNvPr id="10" name="Picture 9" descr="数学公式：f(x)+g(z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108960"/>
            <a:ext cx="1688592" cy="3413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05840" y="40416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x 和 z 分别承担不同任务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240280"/>
            <a:ext cx="5047488" cy="2532888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48716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二次罚项耦合</a:t>
            </a:r>
          </a:p>
        </p:txBody>
      </p:sp>
      <p:pic>
        <p:nvPicPr>
          <p:cNvPr id="14" name="Picture 13" descr="数学公式：\frac{\rho}{2}\|Ax+Bz-c\|_2^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108960"/>
            <a:ext cx="2590800" cy="4815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0" y="4041648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不能直接当作互不相关的子问题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102352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ADMM 的做法：固定一块求另一块，然后用最新结果继续更新。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标准两块 ADMM 采用顺序更新；不能把两块更新直接理解成同时独立并行。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ADMM 的一轮：x → z → 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§4.7.4，pp.264—265，式(4.7.43)、(4.7.47)—(4.7.49)；统一右端为 c</a:t>
            </a:r>
          </a:p>
        </p:txBody>
      </p:sp>
      <p:pic>
        <p:nvPicPr>
          <p:cNvPr id="7" name="Picture 6" descr="数学公式：L_\rho=f(x)+g(z)+\lambda^{\mathsf{T}}(Ax+Bz-c)+\frac{\rho}{2}\|Ax+Bz-c\|_2^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15568"/>
            <a:ext cx="7174992" cy="4175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7240" y="2066543"/>
            <a:ext cx="512064" cy="512064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512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121408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1">
                <a:solidFill>
                  <a:srgbClr val="01561F"/>
                </a:solidFill>
                <a:latin typeface="Noto Sans CJK SC"/>
              </a:defRPr>
            </a:pPr>
            <a:r>
              <a:rPr sz="2100" b="1">
                <a:solidFill>
                  <a:srgbClr val="01561F"/>
                </a:solidFill>
                <a:latin typeface="Noto Sans CJK SC"/>
                <a:ea typeface="Noto Sans CJK SC"/>
              </a:rPr>
              <a:t>用旧 z，更新 x</a:t>
            </a:r>
          </a:p>
        </p:txBody>
      </p:sp>
      <p:pic>
        <p:nvPicPr>
          <p:cNvPr id="11" name="Picture 10" descr="数学公式：x^{k+1}\in\operatorname{arg\,min}_x L_\rho(x,z^k,\lambda^k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2112263"/>
            <a:ext cx="4114800" cy="381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1527048" y="2935224"/>
            <a:ext cx="9811512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" y="3200400"/>
            <a:ext cx="512064" cy="512064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55264"/>
            <a:ext cx="512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3255264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1">
                <a:solidFill>
                  <a:srgbClr val="01561F"/>
                </a:solidFill>
                <a:latin typeface="Noto Sans CJK SC"/>
              </a:defRPr>
            </a:pPr>
            <a:r>
              <a:rPr sz="2100" b="1">
                <a:solidFill>
                  <a:srgbClr val="01561F"/>
                </a:solidFill>
                <a:latin typeface="Noto Sans CJK SC"/>
                <a:ea typeface="Noto Sans CJK SC"/>
              </a:rPr>
              <a:t>用新 x，更新 z</a:t>
            </a:r>
          </a:p>
        </p:txBody>
      </p:sp>
      <p:pic>
        <p:nvPicPr>
          <p:cNvPr id="16" name="Picture 15" descr="数学公式：z^{k+1}\in\operatorname{arg\,min}_z L_\rho(x^{k+1},z,\lambda^k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246120"/>
            <a:ext cx="4480560" cy="381000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1527048" y="4069080"/>
            <a:ext cx="9811512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77240" y="4334256"/>
            <a:ext cx="512064" cy="512064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89120"/>
            <a:ext cx="5120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  <a:latin typeface="Noto Sans CJK SC"/>
              </a:defRPr>
            </a:pPr>
            <a:r>
              <a:rPr sz="2200" b="1">
                <a:solidFill>
                  <a:srgbClr val="FFFFFF"/>
                </a:solidFill>
                <a:latin typeface="Noto Sans CJK SC"/>
                <a:ea typeface="Noto Sans CJK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38912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1">
                <a:solidFill>
                  <a:srgbClr val="01561F"/>
                </a:solidFill>
                <a:latin typeface="Noto Sans CJK SC"/>
              </a:defRPr>
            </a:pPr>
            <a:r>
              <a:rPr sz="2100" b="1">
                <a:solidFill>
                  <a:srgbClr val="01561F"/>
                </a:solidFill>
                <a:latin typeface="Noto Sans CJK SC"/>
                <a:ea typeface="Noto Sans CJK SC"/>
              </a:rPr>
              <a:t>用新残差，更新 λ</a:t>
            </a:r>
          </a:p>
        </p:txBody>
      </p:sp>
      <p:pic>
        <p:nvPicPr>
          <p:cNvPr id="21" name="Picture 20" descr="数学公式：\lambda^{k+1}=\lambda^k+\rho(Ax^{k+1}+Bz^{k+1}-c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4379976"/>
            <a:ext cx="5013960" cy="34137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与 ALM 的差别：ALM 对 (x, z) 联合求解；ADMM 每轮按块做一次顺序更新。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停止准则：两种残差，都要足够小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§4.7.4，p.265，式(4.7.50)—(4.7.53)；保留教材对偶残差的符号约定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353312"/>
            <a:ext cx="5047488" cy="2898648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18488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原始残差：约束是否满足？</a:t>
            </a:r>
          </a:p>
        </p:txBody>
      </p:sp>
      <p:pic>
        <p:nvPicPr>
          <p:cNvPr id="9" name="Picture 8" descr="数学公式：r^{k+1}=Ax^{k+1}+Bz^{k+1}-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688336"/>
            <a:ext cx="3962399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352044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检查两块变量是否已经协调一致。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53312"/>
            <a:ext cx="5047488" cy="2898648"/>
          </a:xfrm>
          <a:prstGeom prst="roundRect">
            <a:avLst>
              <a:gd name="adj" fmla="val 8000"/>
            </a:avLst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618488"/>
            <a:ext cx="461772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对偶残差：最优性是否稳定？</a:t>
            </a:r>
          </a:p>
        </p:txBody>
      </p:sp>
      <p:pic>
        <p:nvPicPr>
          <p:cNvPr id="13" name="Picture 12" descr="数学公式：s^{k+1}=\rho A^{\mathsf{T}}B(z^k-z^{k+1}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2688336"/>
            <a:ext cx="3617976" cy="3657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83680" y="3520440"/>
            <a:ext cx="4572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243A2F"/>
                </a:solidFill>
                <a:latin typeface="Noto Sans CJK SC"/>
              </a:defRPr>
            </a:pPr>
            <a:r>
              <a:rPr sz="2000" b="0">
                <a:solidFill>
                  <a:srgbClr val="243A2F"/>
                </a:solidFill>
                <a:latin typeface="Noto Sans CJK SC"/>
                <a:ea typeface="Noto Sans CJK SC"/>
              </a:rPr>
              <a:t>衡量分块更新留下的驻点条件误差。</a:t>
            </a:r>
          </a:p>
        </p:txBody>
      </p:sp>
      <p:pic>
        <p:nvPicPr>
          <p:cNvPr id="15" name="Picture 14" descr="数学公式：\|r^{k+1}\|_2\leq\varepsilon_{\rm pri}\qquad\mathrm{and}\qquad\|s^{k+1}\|_2\leq\varepsilon_{\rm dual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760" y="4791456"/>
            <a:ext cx="7351775" cy="48158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只看目标值变化很小，或只看约束残差很小，都不足以作为完整的停止判断。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缩放形式：把乘子写成残差的累计量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§4.7.4，pp.265—266，式(4.7.54)—(4.7.57)；本页固定 ρ &gt; 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97280"/>
            <a:ext cx="2011680" cy="320040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2928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令 u = λ / ρ</a:t>
            </a:r>
          </a:p>
        </p:txBody>
      </p:sp>
      <p:pic>
        <p:nvPicPr>
          <p:cNvPr id="9" name="Picture 8" descr="数学公式：x^{k+1}\in\operatorname{arg\,min}_x\left[f(x)+\frac{\rho}{2}\|Ax+Bz^k-c+u^k\|_2^2\right]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865376"/>
            <a:ext cx="7528559" cy="481583"/>
          </a:xfrm>
          <a:prstGeom prst="rect">
            <a:avLst/>
          </a:prstGeom>
        </p:spPr>
      </p:pic>
      <p:pic>
        <p:nvPicPr>
          <p:cNvPr id="10" name="Picture 9" descr="数学公式：z^{k+1}\in\operatorname{arg\,min}_z\left[g(z)+\frac{\rho}{2}\|Ax^{k+1}+Bz-c+u^k\|_2^2\right]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2944368"/>
            <a:ext cx="8013192" cy="481583"/>
          </a:xfrm>
          <a:prstGeom prst="rect">
            <a:avLst/>
          </a:prstGeom>
        </p:spPr>
      </p:pic>
      <p:pic>
        <p:nvPicPr>
          <p:cNvPr id="11" name="Picture 10" descr="数学公式：u^{k+1}=u^k+r^{k+1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041648"/>
            <a:ext cx="2804160" cy="329184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77240" y="4846320"/>
            <a:ext cx="10607040" cy="804672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数学公式：u^k=u^0+\sum_{i=1}^{k}r^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4919472"/>
            <a:ext cx="1663509" cy="6583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846320" y="5074920"/>
            <a:ext cx="62179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1">
                <a:solidFill>
                  <a:srgbClr val="01561F"/>
                </a:solidFill>
                <a:latin typeface="Noto Sans CJK SC"/>
              </a:defRPr>
            </a:pPr>
            <a:r>
              <a:rPr sz="2100" b="1">
                <a:solidFill>
                  <a:srgbClr val="01561F"/>
                </a:solidFill>
                <a:latin typeface="Noto Sans CJK SC"/>
                <a:ea typeface="Noto Sans CJK SC"/>
              </a:rPr>
              <a:t>过去的约束偏差，会留在下一轮更新中。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这是同一算法的等价写法；若调整 ρ，必须同步处理 u 与 λ 的缩放关系。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应用示例：把“数据拟合”和“稀疏化”分开求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教学补充例子：ℓ₁ 正则化去噪；展示标准两块 ADMM 的分裂思想</a:t>
            </a:r>
          </a:p>
        </p:txBody>
      </p:sp>
      <p:pic>
        <p:nvPicPr>
          <p:cNvPr id="7" name="Picture 6" descr="数学公式：\min_{x,z}\ \frac{1}{2}\|x-a\|_2^2+\tau\|z\|_1\quad\mathrm{s.t.}\quad x-z=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43000"/>
            <a:ext cx="6309360" cy="5577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1975104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200" b="0">
                <a:solidFill>
                  <a:srgbClr val="243A2F"/>
                </a:solidFill>
                <a:latin typeface="Noto Sans CJK SC"/>
              </a:defRPr>
            </a:pPr>
            <a:r>
              <a:rPr sz="2200" b="0">
                <a:solidFill>
                  <a:srgbClr val="243A2F"/>
                </a:solidFill>
                <a:latin typeface="Noto Sans CJK SC"/>
                <a:ea typeface="Noto Sans CJK SC"/>
              </a:rPr>
              <a:t>x 负责贴近数据 a；z 负责稀疏；约束要求两者最终一致。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98064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二次子问题</a:t>
            </a:r>
          </a:p>
        </p:txBody>
      </p:sp>
      <p:pic>
        <p:nvPicPr>
          <p:cNvPr id="10" name="Picture 9" descr="数学公式：x^{k+1}=\frac{a+\rho(z^k-u^k)}{1+\rho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2761488"/>
            <a:ext cx="2868168" cy="621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3785615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软阈值操作</a:t>
            </a:r>
          </a:p>
        </p:txBody>
      </p:sp>
      <p:pic>
        <p:nvPicPr>
          <p:cNvPr id="12" name="Picture 11" descr="数学公式：z^{k+1}=\mathcal{S}_{\tau/\rho}(x^{k+1}+u^k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749039"/>
            <a:ext cx="3706368" cy="4297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4773168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累积不一致</a:t>
            </a:r>
          </a:p>
        </p:txBody>
      </p:sp>
      <p:pic>
        <p:nvPicPr>
          <p:cNvPr id="14" name="Picture 13" descr="数学公式：u^{k+1}=u^k+x^{k+1}-z^{k+1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200" y="4736592"/>
            <a:ext cx="4087368" cy="329184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软阈值按分量作用：保留符号，把绝对值减去阈值；不足阈值的直接置零。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数值观察：两条残差曲线一起走向零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教学补充实验：固定 ρ = τ = 1，z⁰ = u⁰ = 0；数值表现不代表一般收敛速率保证</a:t>
            </a:r>
          </a:p>
        </p:txBody>
      </p:sp>
      <p:pic>
        <p:nvPicPr>
          <p:cNvPr id="7" name="Picture 6" descr="数学公式：a=(3,-1,0.2)^{\mathsf{T}},\quad \tau=\rho=1,\quad x^*=z^*=(2,0,0)^{\mathsf{T}}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33856"/>
            <a:ext cx="7808975" cy="365760"/>
          </a:xfrm>
          <a:prstGeom prst="rect">
            <a:avLst/>
          </a:prstGeom>
        </p:spPr>
      </p:pic>
      <p:pic>
        <p:nvPicPr>
          <p:cNvPr id="8" name="Picture 7" descr="exampl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1965960"/>
            <a:ext cx="6976872" cy="35753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909560" y="2148840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用解析解核验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2816352"/>
            <a:ext cx="35204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软阈值把 3 缩到 2，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把 −1 与 0.2 压到 0。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4041648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400" b="1">
                <a:solidFill>
                  <a:srgbClr val="01561F"/>
                </a:solidFill>
                <a:latin typeface="Noto Sans CJK SC"/>
              </a:defRPr>
            </a:pPr>
            <a:r>
              <a:rPr sz="2400" b="1">
                <a:solidFill>
                  <a:srgbClr val="01561F"/>
                </a:solidFill>
                <a:latin typeface="Noto Sans CJK SC"/>
                <a:ea typeface="Noto Sans CJK SC"/>
              </a:rPr>
              <a:t>停止时检查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4681728"/>
            <a:ext cx="352044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两种残差都 ≤ 10⁻³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100" b="0">
                <a:solidFill>
                  <a:srgbClr val="243A2F"/>
                </a:solidFill>
                <a:latin typeface="Noto Sans CJK SC"/>
              </a:defRPr>
            </a:pPr>
            <a:r>
              <a:rPr sz="2100" b="0">
                <a:solidFill>
                  <a:srgbClr val="243A2F"/>
                </a:solidFill>
                <a:latin typeface="Noto Sans CJK SC"/>
                <a:ea typeface="Noto Sans CJK SC"/>
              </a:rPr>
              <a:t>本例第 12 轮满足。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这张图说明“怎样检查实现是否合理”，不能据此推断所有 ADMM 问题都同样快。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把两节连起来：增广改善约束处理，分块降低求解负担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§4.7.3—4.7.4；本页为对比总结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325880"/>
          <a:ext cx="10607040" cy="314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4069080"/>
                <a:gridCol w="4690872"/>
              </a:tblGrid>
              <a:tr h="7863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方法</a:t>
                      </a:r>
                    </a:p>
                  </a:txBody>
                  <a:tcPr marL="146304" marR="91440" marT="82296" marB="45720" anchor="ctr">
                    <a:solidFill>
                      <a:srgbClr val="015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每轮主要工作</a:t>
                      </a:r>
                    </a:p>
                  </a:txBody>
                  <a:tcPr marL="146304" marR="91440" marT="82296" marB="45720" anchor="ctr">
                    <a:solidFill>
                      <a:srgbClr val="0156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1">
                          <a:solidFill>
                            <a:srgbClr val="FFFFFF"/>
                          </a:solidFill>
                          <a:latin typeface="Noto Sans CJK SC"/>
                        </a:defRPr>
                      </a:pPr>
                      <a:r>
                        <a:t>核心特点</a:t>
                      </a:r>
                    </a:p>
                  </a:txBody>
                  <a:tcPr marL="146304" marR="91440" marT="82296" marB="45720" anchor="ctr">
                    <a:solidFill>
                      <a:srgbClr val="01561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二次罚函数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最小化原目标 + 罚项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通过惩罚约束违反来逼近可行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ALM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联合求原始变量，再更新 λ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乘子校正残差，可避免一味增大 ρ</a:t>
                      </a:r>
                    </a:p>
                  </a:txBody>
                  <a:tcPr marL="146304" marR="91440" marT="82296" marB="45720" anchor="ctr">
                    <a:solidFill>
                      <a:srgbClr val="F8FAF8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两块 ADMM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顺序求 x、z，再更新 λ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  <a:defRPr sz="1900" b="0">
                          <a:solidFill>
                            <a:srgbClr val="243A2F"/>
                          </a:solidFill>
                          <a:latin typeface="Noto Sans CJK SC"/>
                        </a:defRPr>
                      </a:pPr>
                      <a:r>
                        <a:t>利用可分结构，使子问题更易求解</a:t>
                      </a:r>
                    </a:p>
                  </a:txBody>
                  <a:tcPr marL="146304" marR="91440" marT="82296" marB="45720" anchor="ctr">
                    <a:solidFill>
                      <a:srgbClr val="EFF5F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47365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① 看结构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3035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有没有可利用的变量分块？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47365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② 看更新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53035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第二块是否用了最新的第一块？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736592"/>
            <a:ext cx="3337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③ 看停止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5303520"/>
            <a:ext cx="3337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原始与对偶残差是否都小？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ALM 的关键词是“乘子校正”；ADMM 的关键词是“顺序分块 + 残差协调”。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_shape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585" y="314553"/>
            <a:ext cx="6345936" cy="6394399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411480"/>
            <a:ext cx="2103120" cy="62179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2304288"/>
            <a:ext cx="999439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4200" b="1">
                <a:solidFill>
                  <a:srgbClr val="01561F"/>
                </a:solidFill>
                <a:latin typeface="Noto Sans CJK SC"/>
              </a:defRPr>
            </a:pPr>
            <a:r>
              <a:rPr sz="4200" b="1">
                <a:solidFill>
                  <a:srgbClr val="01561F"/>
                </a:solidFill>
                <a:latin typeface="Noto Sans CJK SC"/>
                <a:ea typeface="Noto Sans CJK SC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337560"/>
            <a:ext cx="999439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800" b="0">
                <a:solidFill>
                  <a:srgbClr val="243A2F"/>
                </a:solidFill>
                <a:latin typeface="Noto Sans CJK SC"/>
              </a:defRPr>
            </a:pPr>
            <a:r>
              <a:rPr sz="2800" b="0">
                <a:solidFill>
                  <a:srgbClr val="243A2F"/>
                </a:solidFill>
                <a:latin typeface="Noto Sans CJK SC"/>
                <a:ea typeface="Noto Sans CJK SC"/>
              </a:rPr>
              <a:t>敬请老师批评指正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590288"/>
            <a:ext cx="99943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0">
                <a:solidFill>
                  <a:srgbClr val="62756A"/>
                </a:solidFill>
                <a:latin typeface="Noto Sans CJK SC"/>
              </a:defRPr>
            </a:pPr>
            <a:r>
              <a:rPr sz="2000" b="0">
                <a:solidFill>
                  <a:srgbClr val="62756A"/>
                </a:solidFill>
                <a:latin typeface="Noto Sans CJK SC"/>
                <a:ea typeface="Noto Sans CJK SC"/>
              </a:rPr>
              <a:t>增广 · 分块 · 协调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附录 A1｜对偶残差来自哪一条最优性条件？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§4.7.4，pp.264—265，式(4.7.44)—(4.7.46)、(4.7.52)；已校正维度与转置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088136"/>
            <a:ext cx="2834640" cy="320040"/>
          </a:xfrm>
          <a:prstGeom prst="roundRect">
            <a:avLst>
              <a:gd name="adj" fmla="val 8000"/>
            </a:avLst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120139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 sz="1300" b="1">
                <a:solidFill>
                  <a:srgbClr val="FFFFFF"/>
                </a:solidFill>
                <a:latin typeface="Noto Sans CJK SC"/>
                <a:ea typeface="Noto Sans CJK SC"/>
              </a:rPr>
              <a:t>凸问题的 KKT 条件</a:t>
            </a:r>
          </a:p>
        </p:txBody>
      </p:sp>
      <p:pic>
        <p:nvPicPr>
          <p:cNvPr id="9" name="Picture 8" descr="数学公式：Ax+Bz=c,\qquad 0\in\partial f(x)+A^{\mathsf{T}}\lambda,\qquad 0\in\partial g(z)+B^{\mathsf{T}}\lambda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783080"/>
            <a:ext cx="7299960" cy="3291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615184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x 子问题的最优性条件：</a:t>
            </a:r>
          </a:p>
        </p:txBody>
      </p:sp>
      <p:pic>
        <p:nvPicPr>
          <p:cNvPr id="11" name="Picture 10" descr="数学公式：0\in\partial f(x^{k+1})+A^{\mathsf{T}}\lambda^k+\rho A^{\mathsf{T}}(Ax^{k+1}+Bz^k-c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82696"/>
            <a:ext cx="6156960" cy="34137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050791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300" b="1">
                <a:solidFill>
                  <a:srgbClr val="01561F"/>
                </a:solidFill>
                <a:latin typeface="Noto Sans CJK SC"/>
              </a:defRPr>
            </a:pPr>
            <a:r>
              <a:rPr sz="2300" b="1">
                <a:solidFill>
                  <a:srgbClr val="01561F"/>
                </a:solidFill>
                <a:latin typeface="Noto Sans CJK SC"/>
                <a:ea typeface="Noto Sans CJK SC"/>
              </a:rPr>
              <a:t>代入乘子更新，并整理：</a:t>
            </a:r>
          </a:p>
        </p:txBody>
      </p:sp>
      <p:pic>
        <p:nvPicPr>
          <p:cNvPr id="13" name="Picture 12" descr="数学公式：0\in\partial f(x^{k+1})+A^{\mathsf{T}}\lambda^{k+1}+\rho A^{\mathsf{T}}B(z^k-z^{k+1}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681728"/>
            <a:ext cx="6056376" cy="341376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若子问题精确求解，z 的驻点条件已匹配新乘子；x 的偏差由 sᵏ⁺¹ 刻画。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附录 A2｜混合约束的松弛变量与四步更新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A2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教材 §4.7.3，p.263，式(4.7.35)—(4.7.39)；松弛变量 s 改记为 q</a:t>
            </a:r>
          </a:p>
        </p:txBody>
      </p:sp>
      <p:pic>
        <p:nvPicPr>
          <p:cNvPr id="7" name="Picture 6" descr="数学公式：L_\rho(x,q,\lambda,\nu)=f(x)+\lambda^{\mathsf{T}}(Ax-b)+\nu^{\mathsf{T}}(Bx+q-h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188720"/>
            <a:ext cx="6729984" cy="365760"/>
          </a:xfrm>
          <a:prstGeom prst="rect">
            <a:avLst/>
          </a:prstGeom>
        </p:spPr>
      </p:pic>
      <p:pic>
        <p:nvPicPr>
          <p:cNvPr id="8" name="Picture 7" descr="数学公式：\qquad\qquad\qquad\qquad+\frac{\rho}{2}\left(\|Ax-b\|_2^2+\|Bx+q-h\|_2^2\right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1773936"/>
            <a:ext cx="6665976" cy="417576"/>
          </a:xfrm>
          <a:prstGeom prst="rect">
            <a:avLst/>
          </a:prstGeom>
        </p:spPr>
      </p:pic>
      <p:pic>
        <p:nvPicPr>
          <p:cNvPr id="9" name="Picture 8" descr="数学公式：x^{k+1}\in\operatorname{arg\,min}_x L_\rho(x,q^k,\lambda^k,\nu^k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2761488"/>
            <a:ext cx="4620768" cy="381000"/>
          </a:xfrm>
          <a:prstGeom prst="rect">
            <a:avLst/>
          </a:prstGeom>
        </p:spPr>
      </p:pic>
      <p:pic>
        <p:nvPicPr>
          <p:cNvPr id="10" name="Picture 9" descr="数学公式：q^{k+1}=\left[h-Bx^{k+1}-\nu^k/\rho\right]_+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3456432"/>
            <a:ext cx="4087368" cy="353568"/>
          </a:xfrm>
          <a:prstGeom prst="rect">
            <a:avLst/>
          </a:prstGeom>
        </p:spPr>
      </p:pic>
      <p:pic>
        <p:nvPicPr>
          <p:cNvPr id="11" name="Picture 10" descr="数学公式：\lambda^{k+1}=\lambda^k+\rho(Ax^{k+1}-b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151376"/>
            <a:ext cx="3758184" cy="341376"/>
          </a:xfrm>
          <a:prstGeom prst="rect">
            <a:avLst/>
          </a:prstGeom>
        </p:spPr>
      </p:pic>
      <p:pic>
        <p:nvPicPr>
          <p:cNvPr id="12" name="Picture 11" descr="数学公式：\nu^{k+1}=\nu^k+\rho(Bx^{k+1}+q^{k+1}-h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4846320"/>
            <a:ext cx="4824984" cy="34137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[·]₊ 表示逐分量取 max(·, 0)；等式乘子 λ 自由，更新后的 ν 非负。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pic>
        <p:nvPicPr>
          <p:cNvPr id="2" name="Picture 1" descr="s3_shap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3_shap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4664" y="210312"/>
            <a:ext cx="1819656" cy="5394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56032"/>
            <a:ext cx="886968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700" b="1">
                <a:solidFill>
                  <a:srgbClr val="01561F"/>
                </a:solidFill>
                <a:latin typeface="Noto Sans CJK SC"/>
              </a:defRPr>
            </a:pPr>
            <a:r>
              <a:rPr sz="2700" b="1">
                <a:solidFill>
                  <a:srgbClr val="01561F"/>
                </a:solidFill>
                <a:latin typeface="Noto Sans CJK SC"/>
                <a:ea typeface="Noto Sans CJK SC"/>
              </a:rPr>
              <a:t>附录 A3｜来源、记号与必要校正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22608" y="6492240"/>
            <a:ext cx="365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100" b="0">
                <a:solidFill>
                  <a:srgbClr val="FFFFFF"/>
                </a:solidFill>
                <a:latin typeface="Noto Sans CJK SC"/>
              </a:defRPr>
            </a:pPr>
            <a:r>
              <a:rPr sz="1100" b="0">
                <a:solidFill>
                  <a:srgbClr val="FFFFFF"/>
                </a:solidFill>
                <a:latin typeface="Noto Sans CJK SC"/>
                <a:ea typeface="Noto Sans CJK SC"/>
              </a:rPr>
              <a:t>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651967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950" b="0">
                <a:solidFill>
                  <a:srgbClr val="62756A"/>
                </a:solidFill>
                <a:latin typeface="Noto Sans CJK SC"/>
              </a:defRPr>
            </a:pPr>
            <a:r>
              <a:rPr sz="950" b="0">
                <a:solidFill>
                  <a:srgbClr val="62756A"/>
                </a:solidFill>
                <a:latin typeface="Noto Sans CJK SC"/>
                <a:ea typeface="Noto Sans CJK SC"/>
              </a:rPr>
              <a:t>主要依据：张贤达《矩阵分析与应用》第2版，§4.7.3—4.7.4，印刷页261—266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43584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1561F"/>
                </a:solidFill>
                <a:latin typeface="Noto Sans CJK SC"/>
              </a:defRPr>
            </a:pPr>
            <a:r>
              <a:rPr sz="2000" b="1">
                <a:solidFill>
                  <a:srgbClr val="01561F"/>
                </a:solidFill>
                <a:latin typeface="Noto Sans CJK SC"/>
                <a:ea typeface="Noto Sans CJK SC"/>
              </a:rPr>
              <a:t>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33472" y="1243584"/>
            <a:ext cx="86868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上传PDF共6页；第266页仅取4.7.4末尾，未纳入4.8。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10512"/>
            <a:ext cx="1060704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1956816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1561F"/>
                </a:solidFill>
                <a:latin typeface="Noto Sans CJK SC"/>
              </a:defRPr>
            </a:pPr>
            <a:r>
              <a:rPr sz="2000" b="1">
                <a:solidFill>
                  <a:srgbClr val="01561F"/>
                </a:solidFill>
                <a:latin typeface="Noto Sans CJK SC"/>
                <a:ea typeface="Noto Sans CJK SC"/>
              </a:rPr>
              <a:t>记号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956816"/>
            <a:ext cx="86868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松弛变量：教材 s → 本稿 q；缩放乘子：教材 ν → 本稿 u。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7240" y="2523744"/>
            <a:ext cx="1060704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77240" y="2670048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1561F"/>
                </a:solidFill>
                <a:latin typeface="Noto Sans CJK SC"/>
              </a:defRPr>
            </a:pPr>
            <a:r>
              <a:rPr sz="2000" b="1">
                <a:solidFill>
                  <a:srgbClr val="01561F"/>
                </a:solidFill>
                <a:latin typeface="Noto Sans CJK SC"/>
                <a:ea typeface="Noto Sans CJK SC"/>
              </a:rPr>
              <a:t>等式乘子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670048"/>
            <a:ext cx="86868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p.263：Ax=b 对应的 λ 不应限制为非负。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7240" y="3236976"/>
            <a:ext cx="1060704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3383280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1561F"/>
                </a:solidFill>
                <a:latin typeface="Noto Sans CJK SC"/>
              </a:defRPr>
            </a:pPr>
            <a:r>
              <a:rPr sz="2000" b="1">
                <a:solidFill>
                  <a:srgbClr val="01561F"/>
                </a:solidFill>
                <a:latin typeface="Noto Sans CJK SC"/>
                <a:ea typeface="Noto Sans CJK SC"/>
              </a:rPr>
              <a:t>KKT 与更新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33472" y="3383280"/>
            <a:ext cx="86868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式(4.7.45)—(4.7.46)按标准维度校正；式(4.7.49)中 b 改为 c。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3950208"/>
            <a:ext cx="1060704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096512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1561F"/>
                </a:solidFill>
                <a:latin typeface="Noto Sans CJK SC"/>
              </a:defRPr>
            </a:pPr>
            <a:r>
              <a:rPr sz="2000" b="1">
                <a:solidFill>
                  <a:srgbClr val="01561F"/>
                </a:solidFill>
                <a:latin typeface="Noto Sans CJK SC"/>
                <a:ea typeface="Noto Sans CJK SC"/>
              </a:rPr>
              <a:t>分块与缩放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4096512"/>
            <a:ext cx="86868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罚项会耦合变量；两块更新采用顺序。缩放累加式采用固定 ρ。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4663440"/>
            <a:ext cx="10607040" cy="0"/>
          </a:xfrm>
          <a:prstGeom prst="line">
            <a:avLst/>
          </a:prstGeom>
          <a:ln w="12700">
            <a:solidFill>
              <a:srgbClr val="D6E2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4809744"/>
            <a:ext cx="18288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2000" b="1">
                <a:solidFill>
                  <a:srgbClr val="01561F"/>
                </a:solidFill>
                <a:latin typeface="Noto Sans CJK SC"/>
              </a:defRPr>
            </a:pPr>
            <a:r>
              <a:rPr sz="2000" b="1">
                <a:solidFill>
                  <a:srgbClr val="01561F"/>
                </a:solidFill>
                <a:latin typeface="Noto Sans CJK SC"/>
                <a:ea typeface="Noto Sans CJK SC"/>
              </a:rPr>
              <a:t>补充内容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4809744"/>
            <a:ext cx="8686800" cy="557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0">
                <a:solidFill>
                  <a:srgbClr val="243A2F"/>
                </a:solidFill>
                <a:latin typeface="Noto Sans CJK SC"/>
              </a:defRPr>
            </a:pPr>
            <a:r>
              <a:rPr sz="1800" b="0">
                <a:solidFill>
                  <a:srgbClr val="243A2F"/>
                </a:solidFill>
                <a:latin typeface="Noto Sans CJK SC"/>
                <a:ea typeface="Noto Sans CJK SC"/>
              </a:rPr>
              <a:t>标量ALM例子、稀疏去噪例子与残差图均为教学补充。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870448"/>
            <a:ext cx="10789920" cy="493776"/>
          </a:xfrm>
          <a:prstGeom prst="rect">
            <a:avLst/>
          </a:prstGeom>
          <a:solidFill>
            <a:srgbClr val="E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" y="5870448"/>
            <a:ext cx="45720" cy="493776"/>
          </a:xfrm>
          <a:prstGeom prst="rect">
            <a:avLst/>
          </a:prstGeom>
          <a:solidFill>
            <a:srgbClr val="0156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61888"/>
            <a:ext cx="10378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defRPr sz="1800" b="1">
                <a:solidFill>
                  <a:srgbClr val="01561F"/>
                </a:solidFill>
                <a:latin typeface="Noto Sans CJK SC"/>
              </a:defRPr>
            </a:pPr>
            <a:r>
              <a:rPr sz="1800" b="1">
                <a:solidFill>
                  <a:srgbClr val="01561F"/>
                </a:solidFill>
                <a:latin typeface="Noto Sans CJK SC"/>
                <a:ea typeface="Noto Sans CJK SC"/>
              </a:rPr>
              <a:t>引用以教材印刷页码与公式号为准；校正说明用于核对，不影响主讲连贯性。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F35B0BEE-F18A-47BB-8FCB-E00DA2F2635D-1">
      <extobjdata type="F35B0BEE-F18A-47BB-8FCB-E00DA2F2635D" data="ewoJIkRlc2lnbklkIiA6ICJjNzYzMTZiZC1jY2YzLTQ3ZTgtYTRlNS1kOTVkMmI3YWU5OTMiCn0K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3696</Words>
  <Application>WPS 演示</Application>
  <PresentationFormat/>
  <Paragraphs>257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Times New Roman</vt:lpstr>
      <vt:lpstr>Calibri Light</vt:lpstr>
      <vt:lpstr>Arial</vt:lpstr>
      <vt:lpstr>Calibri</vt:lpstr>
      <vt:lpstr>Cambria Math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增广 Lagrangian 乘子法与 ADMM</dc:title>
  <dc:creator/>
  <cp:lastModifiedBy>WPS_1669100031</cp:lastModifiedBy>
  <cp:revision>11</cp:revision>
  <dcterms:created xsi:type="dcterms:W3CDTF">2026-10-09T02:29:00Z</dcterms:created>
  <dcterms:modified xsi:type="dcterms:W3CDTF">2026-10-14T07:15:42Z</dcterms:modified>
  <dc:subject>矩阵分析与应用（第2版）§4.7.3—4.7.4 | 课堂汇报</dc:subject>
  <cp:keywords>增广拉格朗日, ALM, ADMM, 演讲者备注</cp:keywords>
  <dc:description>根据用户提供的教材与模板重新编排；含逐页演讲者备注与隐藏附录。</dc:descript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EN">
    <vt:lpwstr>V1BTLUFJLUVuZ2luZQ</vt:lpwstr>
  </property>
  <property fmtid="{D5CDD505-2E9C-101B-9397-08002B2CF9AE}" pid="3" name="KSOProductBuildVer">
    <vt:lpwstr>2052-12.1.0.28792</vt:lpwstr>
  </property>
  <property fmtid="{D5CDD505-2E9C-101B-9397-08002B2CF9AE}" pid="4" name="ICV">
    <vt:lpwstr>E797C534AE964B99A7AB5756485ED4B8_12</vt:lpwstr>
  </property>
</Properties>
</file>