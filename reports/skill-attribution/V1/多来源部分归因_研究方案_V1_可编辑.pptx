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 研究方案；文献事实与待验证方案以正文标记为准。字体优先 Noto CJK；系统缺失时 PowerPoint 可能替换字体。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 研究方案；文献事实与待验证方案以正文标记为准。字体优先 Noto CJK；系统缺失时 PowerPoint 可能替换字体。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 研究方案；文献事实与待验证方案以正文标记为准。字体优先 Noto CJK；系统缺失时 PowerPoint 可能替换字体。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 研究方案；文献事实与待验证方案以正文标记为准。字体优先 Noto CJK；系统缺失时 PowerPoint 可能替换字体。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 研究方案；文献事实与待验证方案以正文标记为准。字体优先 Noto CJK；系统缺失时 PowerPoint 可能替换字体。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 研究方案；文献事实与待验证方案以正文标记为准。字体优先 Noto CJK；系统缺失时 PowerPoint 可能替换字体。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 研究方案；文献事实与待验证方案以正文标记为准。字体优先 Noto CJK；系统缺失时 PowerPoint 可能替换字体。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 研究方案；文献事实与待验证方案以正文标记为准。字体优先 Noto CJK；系统缺失时 PowerPoint 可能替换字体。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 研究方案；文献事实与待验证方案以正文标记为准。字体优先 Noto CJK；系统缺失时 PowerPoint 可能替换字体。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 研究方案；文献事实与待验证方案以正文标记为准。字体优先 Noto CJK；系统缺失时 PowerPoint 可能替换字体。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 研究方案；文献事实与待验证方案以正文标记为准。字体优先 Noto CJK；系统缺失时 PowerPoint 可能替换字体。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 研究方案；文献事实与待验证方案以正文标记为准。字体优先 Noto CJK；系统缺失时 PowerPoint 可能替换字体。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 研究方案；文献事实与待验证方案以正文标记为准。字体优先 Noto CJK；系统缺失时 PowerPoint 可能替换字体。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 研究方案；文献事实与待验证方案以正文标记为准。字体优先 Noto CJK；系统缺失时 PowerPoint 可能替换字体。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 研究方案；文献事实与待验证方案以正文标记为准。字体优先 Noto CJK；系统缺失时 PowerPoint 可能替换字体。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 研究方案；文献事实与待验证方案以正文标记为准。字体优先 Noto CJK；系统缺失时 PowerPoint 可能替换字体。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 研究方案；文献事实与待验证方案以正文标记为准。字体优先 Noto CJK；系统缺失时 PowerPoint 可能替换字体。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 研究方案；文献事实与待验证方案以正文标记为准。字体优先 Noto CJK；系统缺失时 PowerPoint 可能替换字体。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 研究方案；文献事实与待验证方案以正文标记为准。字体优先 Noto CJK；系统缺失时 PowerPoint 可能替换字体。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 研究方案；文献事实与待验证方案以正文标记为准。字体优先 Noto CJK；系统缺失时 PowerPoint 可能替换字体。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 研究方案；文献事实与待验证方案以正文标记为准。字体优先 Noto CJK；系统缺失时 PowerPoint 可能替换字体。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 研究方案；文献事实与待验证方案以正文标记为准。字体优先 Noto CJK；系统缺失时 PowerPoint 可能替换字体。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 研究方案；文献事实与待验证方案以正文标记为准。字体优先 Noto CJK；系统缺失时 PowerPoint 可能替换字体。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 研究方案；文献事实与待验证方案以正文标记为准。字体优先 Noto CJK；系统缺失时 PowerPoint 可能替换字体。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 研究方案；文献事实与待验证方案以正文标记为准。字体优先 Noto CJK；系统缺失时 PowerPoint 可能替换字体。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 研究方案；文献事实与待验证方案以正文标记为准。字体优先 Noto CJK；系统缺失时 PowerPoint 可能替换字体。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 研究方案；文献事实与待验证方案以正文标记为准。字体优先 Noto CJK；系统缺失时 PowerPoint 可能替换字体。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 研究方案；文献事实与待验证方案以正文标记为准。字体优先 Noto CJK；系统缺失时 PowerPoint 可能替换字体。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 研究方案；文献事实与待验证方案以正文标记为准。字体优先 Noto CJK；系统缺失时 PowerPoint 可能替换字体。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 研究方案；文献事实与待验证方案以正文标记为准。字体优先 Noto CJK；系统缺失时 PowerPoint 可能替换字体。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 研究方案；文献事实与待验证方案以正文标记为准。字体优先 Noto CJK；系统缺失时 PowerPoint 可能替换字体。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 研究方案；文献事实与待验证方案以正文标记为准。字体优先 Noto CJK；系统缺失时 PowerPoint 可能替换字体。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 研究方案；文献事实与待验证方案以正文标记为准。字体优先 Noto CJK；系统缺失时 PowerPoint 可能替换字体。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 研究方案；文献事实与待验证方案以正文标记为准。字体优先 Noto CJK；系统缺失时 PowerPoint 可能替换字体。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 研究方案；文献事实与待验证方案以正文标记为准。字体优先 Noto CJK；系统缺失时 PowerPoint 可能替换字体。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gentskills.io/specification" TargetMode="Externa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2608.05204v2" TargetMode="External"/><Relationship Id="rId3" Type="http://schemas.openxmlformats.org/officeDocument/2006/relationships/hyperlink" Target="https://arxiv.org/abs/2606.31272v1" TargetMode="External"/><Relationship Id="rId4" Type="http://schemas.openxmlformats.org/officeDocument/2006/relationships/hyperlink" Target="https://arxiv.org/abs/2603.22447v2" TargetMode="Externa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2608.05204v2" TargetMode="Externa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2606.31272v1" TargetMode="Externa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html/2607.01456v2" TargetMode="External"/><Relationship Id="rId3" Type="http://schemas.openxmlformats.org/officeDocument/2006/relationships/hyperlink" Target="https://arxiv.org/html/2607.01136v1" TargetMode="Externa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html/2102.06182" TargetMode="External"/><Relationship Id="rId3" Type="http://schemas.openxmlformats.org/officeDocument/2006/relationships/hyperlink" Target="https://arxiv.org/html/2305.04026v3" TargetMode="External"/><Relationship Id="rId4" Type="http://schemas.openxmlformats.org/officeDocument/2006/relationships/hyperlink" Target="https://www.sciencedirect.com/science/article/pii/S0167404826000209" TargetMode="External"/><Relationship Id="rId5" Type="http://schemas.openxmlformats.org/officeDocument/2006/relationships/hyperlink" Target="https://conf.researchr.org/details/issta-2026/issta-2026-research-papers/34/Beyond-Similarity-Scores-Evidence-Based-Third-Party-Library-Detection-for-C-C-Bina" TargetMode="External"/><Relationship Id="rId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mlr.org/papers/v11/el-yaniv10a.html" TargetMode="External"/><Relationship Id="rId3" Type="http://schemas.openxmlformats.org/officeDocument/2006/relationships/hyperlink" Target="https://arxiv.org/abs/2606.10813v3" TargetMode="Externa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2606.31272v1" TargetMode="External"/><Relationship Id="rId3" Type="http://schemas.openxmlformats.org/officeDocument/2006/relationships/hyperlink" Target="https://arxiv.org/html/2607.01136v1" TargetMode="External"/><Relationship Id="rId4" Type="http://schemas.openxmlformats.org/officeDocument/2006/relationships/hyperlink" Target="https://arxiv.org/abs/2608.05204v2" TargetMode="External"/><Relationship Id="rId5" Type="http://schemas.openxmlformats.org/officeDocument/2006/relationships/hyperlink" Target="https://arxiv.org/html/2102.06182" TargetMode="External"/><Relationship Id="rId6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2606.31272v1" TargetMode="External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gentskills.io/specification" TargetMode="External"/><Relationship Id="rId3" Type="http://schemas.openxmlformats.org/officeDocument/2006/relationships/hyperlink" Target="https://arxiv.org/abs/2608.05204v2" TargetMode="External"/><Relationship Id="rId4" Type="http://schemas.openxmlformats.org/officeDocument/2006/relationships/hyperlink" Target="https://arxiv.org/html/2608.05204v2" TargetMode="External"/><Relationship Id="rId5" Type="http://schemas.openxmlformats.org/officeDocument/2006/relationships/hyperlink" Target="https://arxiv.org/abs/2606.31272v1" TargetMode="External"/><Relationship Id="rId6" Type="http://schemas.openxmlformats.org/officeDocument/2006/relationships/hyperlink" Target="https://arxiv.org/pdf/2606.31272v1" TargetMode="External"/><Relationship Id="rId7" Type="http://schemas.openxmlformats.org/officeDocument/2006/relationships/hyperlink" Target="https://arxiv.org/html/2603.22447v2" TargetMode="External"/><Relationship Id="rId8" Type="http://schemas.openxmlformats.org/officeDocument/2006/relationships/hyperlink" Target="https://doi.org/10.1145/3832783.3837468" TargetMode="External"/><Relationship Id="rId9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html/2607.01456v2" TargetMode="External"/><Relationship Id="rId3" Type="http://schemas.openxmlformats.org/officeDocument/2006/relationships/hyperlink" Target="https://arxiv.org/html/2607.01136v1" TargetMode="External"/><Relationship Id="rId4" Type="http://schemas.openxmlformats.org/officeDocument/2006/relationships/hyperlink" Target="https://arxiv.org/html/2102.06182" TargetMode="External"/><Relationship Id="rId5" Type="http://schemas.openxmlformats.org/officeDocument/2006/relationships/hyperlink" Target="https://arxiv.org/abs/2102.06182v1" TargetMode="External"/><Relationship Id="rId6" Type="http://schemas.openxmlformats.org/officeDocument/2006/relationships/hyperlink" Target="https://arxiv.org/html/2305.04026v3" TargetMode="External"/><Relationship Id="rId7" Type="http://schemas.openxmlformats.org/officeDocument/2006/relationships/hyperlink" Target="https://doi.org/10.1145/3625294" TargetMode="External"/><Relationship Id="rId8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sciencedirect.com/science/article/pii/S0167404826000209" TargetMode="External"/><Relationship Id="rId3" Type="http://schemas.openxmlformats.org/officeDocument/2006/relationships/hyperlink" Target="https://conf.researchr.org/details/issta-2026/issta-2026-research-papers/34/Beyond-Similarity-Scores-Evidence-Based-Third-Party-Library-Detection-for-C-C-Bina" TargetMode="External"/><Relationship Id="rId4" Type="http://schemas.openxmlformats.org/officeDocument/2006/relationships/hyperlink" Target="https://kaixuanli-ecnu.github.io/papers/ISSTA26_BLADE.pdf" TargetMode="External"/><Relationship Id="rId5" Type="http://schemas.openxmlformats.org/officeDocument/2006/relationships/hyperlink" Target="https://jmlr.org/papers/v11/el-yaniv10a.html" TargetMode="External"/><Relationship Id="rId6" Type="http://schemas.openxmlformats.org/officeDocument/2006/relationships/hyperlink" Target="https://arxiv.org/abs/2606.10813v3" TargetMode="External"/><Relationship Id="rId7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Chenyangfeng2023/codex/blob/main/reports/skill-attribution/%E5%A4%9A%E6%9D%A5%E6%BA%90%E9%83%A8%E5%88%86%E5%BD%92%E5%9B%A0_%E7%A0%94%E7%A9%B6%E5%AF%B9%E8%B1%A1%E7%9B%AE%E6%A0%87%E7%8E%B0%E6%9C%89%E5%B7%A5%E4%BD%9C%E4%B8%8E%E5%90%8E%E7%BB%AD%E8%A7%84%E5%88%92_2026-10-27.md" TargetMode="External"/><Relationship Id="rId3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52450" y="6334125"/>
            <a:ext cx="11087100" cy="9525"/>
          </a:xfrm>
          <a:prstGeom prst="rect">
            <a:avLst/>
          </a:prstGeom>
          <a:solidFill>
            <a:srgbClr val="E3D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2450" y="3142208"/>
            <a:ext cx="857250" cy="38100"/>
          </a:xfrm>
          <a:prstGeom prst="rect">
            <a:avLst/>
          </a:prstGeom>
          <a:solidFill>
            <a:srgbClr val="D95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52450" y="3418433"/>
            <a:ext cx="3581400" cy="1009650"/>
          </a:xfrm>
          <a:prstGeom prst="rect">
            <a:avLst/>
          </a:prstGeom>
          <a:solidFill>
            <a:srgbClr val="FFFFFF"/>
          </a:solidFill>
          <a:ln w="7620">
            <a:solidFill>
              <a:srgbClr val="E3DD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2450" y="3418433"/>
            <a:ext cx="3581400" cy="28575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05300" y="3418433"/>
            <a:ext cx="3581400" cy="1009650"/>
          </a:xfrm>
          <a:prstGeom prst="rect">
            <a:avLst/>
          </a:prstGeom>
          <a:solidFill>
            <a:srgbClr val="FFFFFF"/>
          </a:solidFill>
          <a:ln w="7620">
            <a:solidFill>
              <a:srgbClr val="E3DD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05300" y="3418433"/>
            <a:ext cx="3581400" cy="28575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58150" y="3418433"/>
            <a:ext cx="3581400" cy="1009650"/>
          </a:xfrm>
          <a:prstGeom prst="rect">
            <a:avLst/>
          </a:prstGeom>
          <a:solidFill>
            <a:srgbClr val="FFFFFF"/>
          </a:solidFill>
          <a:ln w="7620">
            <a:solidFill>
              <a:srgbClr val="E3DD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58150" y="3418433"/>
            <a:ext cx="3581400" cy="28575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450" y="1143000"/>
            <a:ext cx="11087100" cy="80858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5692"/>
              </a:lnSpc>
              <a:spcBef>
                <a:spcPts val="0"/>
              </a:spcBef>
              <a:spcAft>
                <a:spcPts val="0"/>
              </a:spcAft>
            </a:pPr>
            <a:r>
              <a:rPr sz="4950" b="1">
                <a:solidFill>
                  <a:srgbClr val="16202B"/>
                </a:solidFill>
                <a:latin typeface="Noto Serif CJK SC"/>
                <a:ea typeface="Noto Serif CJK SC"/>
              </a:rPr>
              <a:t>多来源部分归因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450" y="2075408"/>
            <a:ext cx="11087100" cy="9144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sz="2175" b="0">
                <a:solidFill>
                  <a:srgbClr val="3D4A5C"/>
                </a:solidFill>
                <a:latin typeface="Noto Sans CJK SC"/>
                <a:ea typeface="Noto Sans CJK SC"/>
              </a:rPr>
              <a:t>面向复合 Skill 包与自有工具的</a:t>
            </a:r>
            <a:br/>
            <a:r>
              <a:rPr sz="2175" b="0">
                <a:solidFill>
                  <a:srgbClr val="3D4A5C"/>
                </a:solidFill>
                <a:latin typeface="Noto Sans CJK SC"/>
                <a:ea typeface="Noto Sans CJK SC"/>
              </a:rPr>
              <a:t>开放集细粒度部分来源归因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475" y="3637508"/>
            <a:ext cx="3181350" cy="36195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4C5C"/>
                </a:solidFill>
                <a:latin typeface="Noto Sans CJK SC"/>
                <a:ea typeface="Noto Sans CJK SC"/>
              </a:rPr>
              <a:t>研究对象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475" y="3989933"/>
            <a:ext cx="2160835" cy="32385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3D4A5C"/>
                </a:solidFill>
                <a:latin typeface="Noto Sans CJK SC"/>
                <a:ea typeface="Noto Sans CJK SC"/>
              </a:rPr>
              <a:t>文本 · 代码 · 配置 · 工作流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5325" y="3637508"/>
            <a:ext cx="3181350" cy="36195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4C5C"/>
                </a:solidFill>
                <a:latin typeface="Noto Sans CJK SC"/>
                <a:ea typeface="Noto Sans CJK SC"/>
              </a:rPr>
              <a:t>核心问题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5325" y="3989933"/>
            <a:ext cx="2412057" cy="32385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3D4A5C"/>
                </a:solidFill>
                <a:latin typeface="Noto Sans CJK SC"/>
                <a:ea typeface="Noto Sans CJK SC"/>
              </a:rPr>
              <a:t>公共成分 · 多源混合 · 来源缺失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8175" y="3637508"/>
            <a:ext cx="3181350" cy="36195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4C5C"/>
                </a:solidFill>
                <a:latin typeface="Noto Sans CJK SC"/>
                <a:ea typeface="Noto Sans CJK SC"/>
              </a:rPr>
              <a:t>研究预设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8175" y="3989933"/>
            <a:ext cx="1943100" cy="32385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3D4A5C"/>
                </a:solidFill>
                <a:latin typeface="Noto Sans CJK SC"/>
                <a:ea typeface="Noto Sans CJK SC"/>
              </a:rPr>
              <a:t>保留证据，也保留不确定性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2450" y="4675733"/>
            <a:ext cx="11087100" cy="3429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852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0F4C5C"/>
                </a:solidFill>
                <a:latin typeface="Noto Sans CJK SC"/>
                <a:ea typeface="Noto Sans CJK SC"/>
              </a:rPr>
              <a:t>文献相关章节已核对 · 方法与性能仍待实验验证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450" y="5075783"/>
            <a:ext cx="11087100" cy="3143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686"/>
                </a:solidFill>
                <a:latin typeface="Noto Sans CJK SC"/>
                <a:ea typeface="Noto Sans CJK SC"/>
              </a:rPr>
              <a:t>2026.10.30　/　完整正文演示版 · 16:9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2450" y="666750"/>
            <a:ext cx="11087100" cy="2762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D95D39"/>
                </a:solidFill>
                <a:latin typeface="Noto Sans CJK SC"/>
                <a:ea typeface="Noto Sans CJK SC"/>
              </a:rPr>
              <a:t>RESEARCH PROPOSAL / V1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2450" y="6343650"/>
            <a:ext cx="11087100" cy="3905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B7686"/>
                </a:solidFill>
                <a:latin typeface="Noto Sans CJK SC"/>
                <a:ea typeface="Noto Sans CJK SC"/>
              </a:rPr>
              <a:t>研究方案与文献核验稿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27296" y="6467475"/>
            <a:ext cx="412253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0F4C5C"/>
                </a:solidFill>
                <a:latin typeface="Noto Sans CJK SC"/>
                <a:ea typeface="Noto Sans CJK SC"/>
              </a:rPr>
              <a:t>01 / 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52450" y="6334125"/>
            <a:ext cx="11087100" cy="9525"/>
          </a:xfrm>
          <a:prstGeom prst="rect">
            <a:avLst/>
          </a:prstGeom>
          <a:solidFill>
            <a:srgbClr val="E3D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2450" y="809625"/>
            <a:ext cx="57150" cy="437108"/>
          </a:xfrm>
          <a:prstGeom prst="rect">
            <a:avLst/>
          </a:prstGeom>
          <a:solidFill>
            <a:srgbClr val="D95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900" y="809625"/>
            <a:ext cx="10915650" cy="52283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442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16202B"/>
                </a:solidFill>
                <a:latin typeface="Noto Serif CJK SC"/>
                <a:ea typeface="Noto Serif CJK SC"/>
              </a:rPr>
              <a:t>01｜摘要与研究定位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1456283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研究对象：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包含自然语言指令、脚本、自有工具实现、配置、示例与参考资源的复合 Skill 包。研究这些内容经过复制、改写、拆分和跨包组合之后的部分来源关联。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2450" y="2279005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核心问题：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当公共成分、同功能独立实现、真实多源混合与缺失来源同时存在时，能否在定位复用区域的同时，减少把共有或未知内容错误地唯一归给某一候选的情况？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2450" y="3101726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拟议方法：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结构化切片 → 多路候选检索 → 局部表达／实现／操作证据 → 公共成分解释 → 多候选联合推断 → 保留歧义与未知；LLM 仅辅助有依据的提取和疑难核查。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" y="3924448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贡献预设：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评测与可辨识性设计、可靠区域输出、联合机制的增量价值。三者均需实验支持；组合现有技术本身不构成已经确立的创新。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2450" y="428625"/>
            <a:ext cx="11087100" cy="2762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D95D39"/>
                </a:solidFill>
                <a:latin typeface="Noto Sans CJK SC"/>
                <a:ea typeface="Noto Sans CJK SC"/>
              </a:rPr>
              <a:t>SKILL PROVENANCE / V1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37278" y="428625"/>
            <a:ext cx="1502271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6B7686"/>
                </a:solidFill>
                <a:latin typeface="Noto Sans CJK SC"/>
                <a:ea typeface="Noto Sans CJK SC"/>
              </a:rPr>
              <a:t>研究方案 · 2026.10.30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450" y="6343650"/>
            <a:ext cx="11087100" cy="3905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B7686"/>
                </a:solidFill>
                <a:latin typeface="Noto Sans CJK SC"/>
                <a:ea typeface="Noto Sans CJK SC"/>
              </a:rPr>
              <a:t>多来源部分归因 · 证据可复核，结论有边界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27296" y="6467475"/>
            <a:ext cx="412253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0F4C5C"/>
                </a:solidFill>
                <a:latin typeface="Noto Sans CJK SC"/>
                <a:ea typeface="Noto Sans CJK SC"/>
              </a:rPr>
              <a:t>02 / 35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52450" y="6334125"/>
            <a:ext cx="11087100" cy="9525"/>
          </a:xfrm>
          <a:prstGeom prst="rect">
            <a:avLst/>
          </a:prstGeom>
          <a:solidFill>
            <a:srgbClr val="E3D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2450" y="809625"/>
            <a:ext cx="57150" cy="437108"/>
          </a:xfrm>
          <a:prstGeom prst="rect">
            <a:avLst/>
          </a:prstGeom>
          <a:solidFill>
            <a:srgbClr val="D95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900" y="809625"/>
            <a:ext cx="10915650" cy="52283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442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16202B"/>
                </a:solidFill>
                <a:latin typeface="Noto Serif CJK SC"/>
                <a:ea typeface="Noto Serif CJK SC"/>
              </a:rPr>
              <a:t>02｜证据标准与核查范围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1456283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本文使用四类证据状态：</a:t>
            </a: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F（原文相关章节已核查）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、</a:t>
            </a: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A（摘要／官方条目已核查）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、</a:t>
            </a: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P（本文提出的方案或推论）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、</a:t>
            </a: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U（待补证据）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。F 表示核对了相应表述，不意味着论文代码已复现或结论独立验证。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" y="2279005"/>
            <a:ext cx="1099185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• 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F：用户上传的 SkillTrace v2、Decomp-FP v1 PDF；线上 ASSCs、SKILL.md 分类学、CENTRIS、LibAM、SkillReuse 的相关方法和边界章节。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" y="3044576"/>
            <a:ext cx="10991850" cy="42088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• 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A：BLADE 官方会议摘要、DeRed 出版方检索摘要、选择性分类论文摘要、RedAct 摘要。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3474987"/>
            <a:ext cx="10991850" cy="42088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• 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U：DeRed 全文访问返回 403；未开展系统性综述，不能宣称“首个”“唯一”或“最优”。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2450" y="3981598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核查日期为 2026-10-30。在线论文入口、版本和定位见文末；用户旧 HTML 是线索与样式参考，不作为独立学术证据。本文未复用其中未经核实的性能比较。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2450" y="428625"/>
            <a:ext cx="11087100" cy="2762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D95D39"/>
                </a:solidFill>
                <a:latin typeface="Noto Sans CJK SC"/>
                <a:ea typeface="Noto Sans CJK SC"/>
              </a:rPr>
              <a:t>SKILL PROVENANCE / V1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37278" y="428625"/>
            <a:ext cx="1502271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6B7686"/>
                </a:solidFill>
                <a:latin typeface="Noto Sans CJK SC"/>
                <a:ea typeface="Noto Sans CJK SC"/>
              </a:rPr>
              <a:t>研究方案 · 2026.10.30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2450" y="6343650"/>
            <a:ext cx="11087100" cy="3905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B7686"/>
                </a:solidFill>
                <a:latin typeface="Noto Sans CJK SC"/>
                <a:ea typeface="Noto Sans CJK SC"/>
              </a:rPr>
              <a:t>多来源部分归因 · 证据可复核，结论有边界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27296" y="6467475"/>
            <a:ext cx="412253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0F4C5C"/>
                </a:solidFill>
                <a:latin typeface="Noto Sans CJK SC"/>
                <a:ea typeface="Noto Sans CJK SC"/>
              </a:rPr>
              <a:t>03 / 35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52450" y="6334125"/>
            <a:ext cx="11087100" cy="9525"/>
          </a:xfrm>
          <a:prstGeom prst="rect">
            <a:avLst/>
          </a:prstGeom>
          <a:solidFill>
            <a:srgbClr val="E3D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2450" y="809625"/>
            <a:ext cx="57150" cy="437108"/>
          </a:xfrm>
          <a:prstGeom prst="rect">
            <a:avLst/>
          </a:prstGeom>
          <a:solidFill>
            <a:srgbClr val="D95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900" y="809625"/>
            <a:ext cx="10915650" cy="52283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442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16202B"/>
                </a:solidFill>
                <a:latin typeface="Noto Serif CJK SC"/>
                <a:ea typeface="Noto Serif CJK SC"/>
              </a:rPr>
              <a:t>03｜研究对象与可见输入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1456283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A7F8F"/>
                </a:solidFill>
                <a:latin typeface="Noto Sans CJK SC"/>
                <a:ea typeface="Noto Sans CJK SC"/>
                <a:hlinkClick r:id="rId2"/>
              </a:rPr>
              <a:t>Agent Skills 规格 S01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描述以 SKILL.md 为核心，并可带 scripts、references、assets 等目录的结构。本研究以这种文件可见的复合包为主，并纳入能取得实现的自有工具。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2450" y="4934545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外部 API 仅能观察到声明与调用时，只对这些可见内容做关联；不能据此归因服务内部实现。首轮采用被动静态证据，不要求预埋水印，也不把 SOG 当作实际执行轨迹。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2450" y="428625"/>
            <a:ext cx="11087100" cy="2762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D95D39"/>
                </a:solidFill>
                <a:latin typeface="Noto Sans CJK SC"/>
                <a:ea typeface="Noto Sans CJK SC"/>
              </a:rPr>
              <a:t>SKILL PROVENANCE / V1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37278" y="428625"/>
            <a:ext cx="1502271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6B7686"/>
                </a:solidFill>
                <a:latin typeface="Noto Sans CJK SC"/>
                <a:ea typeface="Noto Sans CJK SC"/>
              </a:rPr>
              <a:t>研究方案 · 2026.10.30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2450" y="6343650"/>
            <a:ext cx="11087100" cy="3905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B7686"/>
                </a:solidFill>
                <a:latin typeface="Noto Sans CJK SC"/>
                <a:ea typeface="Noto Sans CJK SC"/>
              </a:rPr>
              <a:t>多来源部分归因 · 证据可复核，结论有边界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27296" y="6467475"/>
            <a:ext cx="412253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0F4C5C"/>
                </a:solidFill>
                <a:latin typeface="Noto Sans CJK SC"/>
                <a:ea typeface="Noto Sans CJK SC"/>
              </a:rPr>
              <a:t>04 / 35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52450" y="2279005"/>
          <a:ext cx="11087099" cy="24793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0557"/>
                <a:gridCol w="5058519"/>
                <a:gridCol w="4188023"/>
              </a:tblGrid>
              <a:tr h="489198"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输入</a:t>
                      </a:r>
                    </a:p>
                  </a:txBody>
                  <a:tcPr marL="133350" marR="133350" marT="104775" marB="95250">
                    <a:solidFill>
                      <a:srgbClr val="0F4C5C"/>
                    </a:solidFill>
                    <a:lnL w="0">
                      <a:solidFill>
                        <a:srgbClr val="0F4C5C"/>
                      </a:solidFill>
                    </a:lnL>
                    <a:lnR w="0">
                      <a:solidFill>
                        <a:srgbClr val="0F4C5C"/>
                      </a:solidFill>
                    </a:lnR>
                    <a:lnT w="0">
                      <a:solidFill>
                        <a:srgbClr val="0F4C5C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允许使用的内容</a:t>
                      </a:r>
                    </a:p>
                  </a:txBody>
                  <a:tcPr marL="133350" marR="133350" marT="104775" marB="95250">
                    <a:solidFill>
                      <a:srgbClr val="0F4C5C"/>
                    </a:solidFill>
                    <a:lnL w="0">
                      <a:solidFill>
                        <a:srgbClr val="0F4C5C"/>
                      </a:solidFill>
                    </a:lnL>
                    <a:lnR w="0">
                      <a:solidFill>
                        <a:srgbClr val="0F4C5C"/>
                      </a:solidFill>
                    </a:lnR>
                    <a:lnT w="0">
                      <a:solidFill>
                        <a:srgbClr val="0F4C5C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边界</a:t>
                      </a:r>
                    </a:p>
                  </a:txBody>
                  <a:tcPr marL="133350" marR="133350" marT="104775" marB="95250">
                    <a:solidFill>
                      <a:srgbClr val="0F4C5C"/>
                    </a:solidFill>
                    <a:lnL w="0">
                      <a:solidFill>
                        <a:srgbClr val="0F4C5C"/>
                      </a:solidFill>
                    </a:lnL>
                    <a:lnR w="0">
                      <a:solidFill>
                        <a:srgbClr val="0F4C5C"/>
                      </a:solidFill>
                    </a:lnR>
                    <a:lnT w="0">
                      <a:solidFill>
                        <a:srgbClr val="0F4C5C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  <a:tr h="493960"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0F4C5C"/>
                          </a:solidFill>
                          <a:latin typeface="Noto Sans CJK SC"/>
                          <a:ea typeface="Noto Sans CJK SC"/>
                        </a:rPr>
                        <a:t>目标 X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文件、路径、版本、可见声明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不读取秘密制作日志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  <a:tr h="498723"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0F4C5C"/>
                          </a:solidFill>
                          <a:latin typeface="Noto Sans CJK SC"/>
                          <a:ea typeface="Noto Sans CJK SC"/>
                        </a:rPr>
                        <a:t>候选源库 D</a:t>
                      </a:r>
                    </a:p>
                  </a:txBody>
                  <a:tcPr marL="133350" marR="133350" marT="104775" marB="95250">
                    <a:solidFill>
                      <a:srgbClr val="F8F5EE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候选版本及具体文件</a:t>
                      </a:r>
                    </a:p>
                  </a:txBody>
                  <a:tcPr marL="133350" marR="133350" marT="104775" marB="95250">
                    <a:solidFill>
                      <a:srgbClr val="F8F5EE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不假定包含真实来源</a:t>
                      </a:r>
                    </a:p>
                  </a:txBody>
                  <a:tcPr marL="133350" marR="133350" marT="104775" marB="95250">
                    <a:solidFill>
                      <a:srgbClr val="F8F5EE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  <a:tr h="498723"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0F4C5C"/>
                          </a:solidFill>
                          <a:latin typeface="Noto Sans CJK SC"/>
                          <a:ea typeface="Noto Sans CJK SC"/>
                        </a:rPr>
                        <a:t>公共库 C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有内容与版本依据的模板、库、示例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包名或许可证本身不等于匹配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  <a:tr h="498723"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0F4C5C"/>
                          </a:solidFill>
                          <a:latin typeface="Noto Sans CJK SC"/>
                          <a:ea typeface="Noto Sans CJK SC"/>
                        </a:rPr>
                        <a:t>辅助信息</a:t>
                      </a:r>
                    </a:p>
                  </a:txBody>
                  <a:tcPr marL="133350" marR="133350" marT="104775" marB="95250">
                    <a:solidFill>
                      <a:srgbClr val="F8F5EE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公开规格、引用、调用、可核查历史</a:t>
                      </a:r>
                    </a:p>
                  </a:txBody>
                  <a:tcPr marL="133350" marR="133350" marT="104775" marB="95250">
                    <a:solidFill>
                      <a:srgbClr val="F8F5EE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缺失不等于没有依赖或复用</a:t>
                      </a:r>
                    </a:p>
                  </a:txBody>
                  <a:tcPr marL="133350" marR="133350" marT="104775" marB="95250">
                    <a:solidFill>
                      <a:srgbClr val="F8F5EE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52450" y="6334125"/>
            <a:ext cx="11087100" cy="9525"/>
          </a:xfrm>
          <a:prstGeom prst="rect">
            <a:avLst/>
          </a:prstGeom>
          <a:solidFill>
            <a:srgbClr val="E3D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2450" y="809625"/>
            <a:ext cx="57150" cy="437108"/>
          </a:xfrm>
          <a:prstGeom prst="rect">
            <a:avLst/>
          </a:prstGeom>
          <a:solidFill>
            <a:srgbClr val="D95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900" y="809625"/>
            <a:ext cx="10915650" cy="52283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442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16202B"/>
                </a:solidFill>
                <a:latin typeface="Noto Serif CJK SC"/>
                <a:ea typeface="Noto Serif CJK SC"/>
              </a:rPr>
              <a:t>04｜符号、来源与“部分”的含义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700" y="1456283"/>
            <a:ext cx="10991850" cy="42088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• </a:t>
            </a: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A、B：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候选技能或工具实现。独立对照 B 按相同公开任务规格制作，制作时不能接触 A 的私有设计。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" y="1886694"/>
            <a:ext cx="10991850" cy="42088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• </a:t>
            </a: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C：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有明确内容及版本依据的已知公共组件或共同上游。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" y="2317105"/>
            <a:ext cx="10991850" cy="42088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• </a:t>
            </a: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X：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目标，可组合 A、B、C 的局部内容以及新写内容。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2747516"/>
            <a:ext cx="10991850" cy="42088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• </a:t>
            </a: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rᵢ：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目标区域；</a:t>
            </a: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D：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检测器当前可见的候选版本集合。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2450" y="3254126"/>
            <a:ext cx="11087100" cy="42088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“部分”有两层含义：只解释 X 中有依据的区域；证据不足时，只给候选集合或未知。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2450" y="3741687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内容同源支持、直接获取路径、最初作者是三个问题。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 即使 X 中某段确定匹配 C，也未必知道制作时从 C 官网、A 的副本还是其他镜像取得。V1 主任务输出内容关联；方向和获取路径另列证据，不强行恢复唯一历史。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450" y="428625"/>
            <a:ext cx="11087100" cy="2762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D95D39"/>
                </a:solidFill>
                <a:latin typeface="Noto Sans CJK SC"/>
                <a:ea typeface="Noto Sans CJK SC"/>
              </a:rPr>
              <a:t>SKILL PROVENANCE / V1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7278" y="428625"/>
            <a:ext cx="1502271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6B7686"/>
                </a:solidFill>
                <a:latin typeface="Noto Sans CJK SC"/>
                <a:ea typeface="Noto Sans CJK SC"/>
              </a:rPr>
              <a:t>研究方案 · 2026.10.30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2450" y="6343650"/>
            <a:ext cx="11087100" cy="3905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B7686"/>
                </a:solidFill>
                <a:latin typeface="Noto Sans CJK SC"/>
                <a:ea typeface="Noto Sans CJK SC"/>
              </a:rPr>
              <a:t>多来源部分归因 · 证据可复核，结论有边界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27296" y="6467475"/>
            <a:ext cx="412253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0F4C5C"/>
                </a:solidFill>
                <a:latin typeface="Noto Sans CJK SC"/>
                <a:ea typeface="Noto Sans CJK SC"/>
              </a:rPr>
              <a:t>05 / 35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52450" y="6334125"/>
            <a:ext cx="11087100" cy="9525"/>
          </a:xfrm>
          <a:prstGeom prst="rect">
            <a:avLst/>
          </a:prstGeom>
          <a:solidFill>
            <a:srgbClr val="E3D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2450" y="809625"/>
            <a:ext cx="57150" cy="437108"/>
          </a:xfrm>
          <a:prstGeom prst="rect">
            <a:avLst/>
          </a:prstGeom>
          <a:solidFill>
            <a:srgbClr val="D95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900" y="809625"/>
            <a:ext cx="10915650" cy="52283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442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16202B"/>
                </a:solidFill>
                <a:latin typeface="Noto Serif CJK SC"/>
                <a:ea typeface="Noto Serif CJK SC"/>
              </a:rPr>
              <a:t>05｜输出语义与不可辨识性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4610546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不可辨识示例（P）：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若 A、B 只有同一份 C 被保留到 X，且没有可靠历史记录，那么从 A 复制与从 B 复制可能产生完全相同的可见输入。算法应保留歧义，而不是猜中评估日志中的真实路径。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2450" y="5433268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具体报告同时记录目标位置、源端位置、公共标记、证据类型、候选竞争和缺口；来源支持分不称为复制概率，区域占比不称为法律贡献比例。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2450" y="428625"/>
            <a:ext cx="11087100" cy="2762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D95D39"/>
                </a:solidFill>
                <a:latin typeface="Noto Sans CJK SC"/>
                <a:ea typeface="Noto Sans CJK SC"/>
              </a:rPr>
              <a:t>SKILL PROVENANCE / V1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37278" y="428625"/>
            <a:ext cx="1502271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6B7686"/>
                </a:solidFill>
                <a:latin typeface="Noto Sans CJK SC"/>
                <a:ea typeface="Noto Sans CJK SC"/>
              </a:rPr>
              <a:t>研究方案 · 2026.10.30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2450" y="6343650"/>
            <a:ext cx="11087100" cy="3905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B7686"/>
                </a:solidFill>
                <a:latin typeface="Noto Sans CJK SC"/>
                <a:ea typeface="Noto Sans CJK SC"/>
              </a:rPr>
              <a:t>多来源部分归因 · 证据可复核，结论有边界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27296" y="6467475"/>
            <a:ext cx="412253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0F4C5C"/>
                </a:solidFill>
                <a:latin typeface="Noto Sans CJK SC"/>
                <a:ea typeface="Noto Sans CJK SC"/>
              </a:rPr>
              <a:t>06 / 35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52450" y="1456283"/>
          <a:ext cx="11087099" cy="2978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6414"/>
                <a:gridCol w="4290268"/>
                <a:gridCol w="4290417"/>
              </a:tblGrid>
              <a:tr h="489198"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状态</a:t>
                      </a:r>
                    </a:p>
                  </a:txBody>
                  <a:tcPr marL="133350" marR="133350" marT="104775" marB="95250">
                    <a:solidFill>
                      <a:srgbClr val="0F4C5C"/>
                    </a:solidFill>
                    <a:lnL w="0">
                      <a:solidFill>
                        <a:srgbClr val="0F4C5C"/>
                      </a:solidFill>
                    </a:lnL>
                    <a:lnR w="0">
                      <a:solidFill>
                        <a:srgbClr val="0F4C5C"/>
                      </a:solidFill>
                    </a:lnR>
                    <a:lnT w="0">
                      <a:solidFill>
                        <a:srgbClr val="0F4C5C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允许的结论</a:t>
                      </a:r>
                    </a:p>
                  </a:txBody>
                  <a:tcPr marL="133350" marR="133350" marT="104775" marB="95250">
                    <a:solidFill>
                      <a:srgbClr val="0F4C5C"/>
                    </a:solidFill>
                    <a:lnL w="0">
                      <a:solidFill>
                        <a:srgbClr val="0F4C5C"/>
                      </a:solidFill>
                    </a:lnL>
                    <a:lnR w="0">
                      <a:solidFill>
                        <a:srgbClr val="0F4C5C"/>
                      </a:solidFill>
                    </a:lnR>
                    <a:lnT w="0">
                      <a:solidFill>
                        <a:srgbClr val="0F4C5C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不允许的推断</a:t>
                      </a:r>
                    </a:p>
                  </a:txBody>
                  <a:tcPr marL="133350" marR="133350" marT="104775" marB="95250">
                    <a:solidFill>
                      <a:srgbClr val="0F4C5C"/>
                    </a:solidFill>
                    <a:lnL w="0">
                      <a:solidFill>
                        <a:srgbClr val="0F4C5C"/>
                      </a:solidFill>
                    </a:lnL>
                    <a:lnR w="0">
                      <a:solidFill>
                        <a:srgbClr val="0F4C5C"/>
                      </a:solidFill>
                    </a:lnR>
                    <a:lnT w="0">
                      <a:solidFill>
                        <a:srgbClr val="0F4C5C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  <a:tr h="493960"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0F4C5C"/>
                          </a:solidFill>
                          <a:latin typeface="Noto Sans CJK SC"/>
                          <a:ea typeface="Noto Sans CJK SC"/>
                        </a:rPr>
                        <a:t>单一来源支持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当前证据优先支持 A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已证明作者身份或侵权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  <a:tr h="498723"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0F4C5C"/>
                          </a:solidFill>
                          <a:latin typeface="Noto Sans CJK SC"/>
                          <a:ea typeface="Noto Sans CJK SC"/>
                        </a:rPr>
                        <a:t>已知公共内容</a:t>
                      </a:r>
                    </a:p>
                  </a:txBody>
                  <a:tcPr marL="133350" marR="133350" marT="104775" marB="95250">
                    <a:solidFill>
                      <a:srgbClr val="F8F5EE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区域匹配具体 C@版本</a:t>
                      </a:r>
                    </a:p>
                  </a:txBody>
                  <a:tcPr marL="133350" marR="133350" marT="104775" marB="95250">
                    <a:solidFill>
                      <a:srgbClr val="F8F5EE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X 必然直接下载自 C</a:t>
                      </a:r>
                    </a:p>
                  </a:txBody>
                  <a:tcPr marL="133350" marR="133350" marT="104775" marB="95250">
                    <a:solidFill>
                      <a:srgbClr val="F8F5EE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  <a:tr h="498723"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0F4C5C"/>
                          </a:solidFill>
                          <a:latin typeface="Noto Sans CJK SC"/>
                          <a:ea typeface="Noto Sans CJK SC"/>
                        </a:rPr>
                        <a:t>歧义候选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A 或 B 均能解释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已同时复制 A 和 B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  <a:tr h="498723"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0F4C5C"/>
                          </a:solidFill>
                          <a:latin typeface="Noto Sans CJK SC"/>
                          <a:ea typeface="Noto Sans CJK SC"/>
                        </a:rPr>
                        <a:t>未知／证据不足</a:t>
                      </a:r>
                    </a:p>
                  </a:txBody>
                  <a:tcPr marL="133350" marR="133350" marT="104775" marB="95250">
                    <a:solidFill>
                      <a:srgbClr val="F8F5EE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当前证据不够</a:t>
                      </a:r>
                    </a:p>
                  </a:txBody>
                  <a:tcPr marL="133350" marR="133350" marT="104775" marB="95250">
                    <a:solidFill>
                      <a:srgbClr val="F8F5EE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已证明独立创作</a:t>
                      </a:r>
                    </a:p>
                  </a:txBody>
                  <a:tcPr marL="133350" marR="133350" marT="104775" marB="95250">
                    <a:solidFill>
                      <a:srgbClr val="F8F5EE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  <a:tr h="498723"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0F4C5C"/>
                          </a:solidFill>
                          <a:latin typeface="Noto Sans CJK SC"/>
                          <a:ea typeface="Noto Sans CJK SC"/>
                        </a:rPr>
                        <a:t>多来源混合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不同子区域分别支持不同来源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只因同一区域像两方就判混合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52450" y="6334125"/>
            <a:ext cx="11087100" cy="9525"/>
          </a:xfrm>
          <a:prstGeom prst="rect">
            <a:avLst/>
          </a:prstGeom>
          <a:solidFill>
            <a:srgbClr val="E3D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2450" y="809625"/>
            <a:ext cx="57150" cy="437108"/>
          </a:xfrm>
          <a:prstGeom prst="rect">
            <a:avLst/>
          </a:prstGeom>
          <a:solidFill>
            <a:srgbClr val="D95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900" y="809625"/>
            <a:ext cx="10915650" cy="52283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442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16202B"/>
                </a:solidFill>
                <a:latin typeface="Noto Serif CJK SC"/>
                <a:ea typeface="Noto Serif CJK SC"/>
              </a:rPr>
              <a:t>06｜研究问题与可证伪假设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4610546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主指标预设为：</a:t>
            </a: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固定明确判断覆盖率下的错误唯一归因率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。补充检索召回、区域定位、公共内容识别、歧义集合和未知检出表现。目标值必须在试点后确定并冻结，不在 V1 编造性能承诺。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2450" y="428625"/>
            <a:ext cx="11087100" cy="2762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D95D39"/>
                </a:solidFill>
                <a:latin typeface="Noto Sans CJK SC"/>
                <a:ea typeface="Noto Sans CJK SC"/>
              </a:rPr>
              <a:t>SKILL PROVENANCE / V1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37278" y="428625"/>
            <a:ext cx="1502271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6B7686"/>
                </a:solidFill>
                <a:latin typeface="Noto Sans CJK SC"/>
                <a:ea typeface="Noto Sans CJK SC"/>
              </a:rPr>
              <a:t>研究方案 · 2026.10.30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" y="6343650"/>
            <a:ext cx="11087100" cy="3905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B7686"/>
                </a:solidFill>
                <a:latin typeface="Noto Sans CJK SC"/>
                <a:ea typeface="Noto Sans CJK SC"/>
              </a:rPr>
              <a:t>多来源部分归因 · 证据可复核，结论有边界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27296" y="6467475"/>
            <a:ext cx="412253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0F4C5C"/>
                </a:solidFill>
                <a:latin typeface="Noto Sans CJK SC"/>
                <a:ea typeface="Noto Sans CJK SC"/>
              </a:rPr>
              <a:t>07 / 35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52450" y="1456283"/>
          <a:ext cx="11087098" cy="2978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497"/>
                <a:gridCol w="5336232"/>
                <a:gridCol w="3769369"/>
              </a:tblGrid>
              <a:tr h="489198"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研究问题</a:t>
                      </a:r>
                    </a:p>
                  </a:txBody>
                  <a:tcPr marL="133350" marR="133350" marT="104775" marB="95250">
                    <a:solidFill>
                      <a:srgbClr val="0F4C5C"/>
                    </a:solidFill>
                    <a:lnL w="0">
                      <a:solidFill>
                        <a:srgbClr val="0F4C5C"/>
                      </a:solidFill>
                    </a:lnL>
                    <a:lnR w="0">
                      <a:solidFill>
                        <a:srgbClr val="0F4C5C"/>
                      </a:solidFill>
                    </a:lnR>
                    <a:lnT w="0">
                      <a:solidFill>
                        <a:srgbClr val="0F4C5C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待验证假设（P）</a:t>
                      </a:r>
                    </a:p>
                  </a:txBody>
                  <a:tcPr marL="133350" marR="133350" marT="104775" marB="95250">
                    <a:solidFill>
                      <a:srgbClr val="0F4C5C"/>
                    </a:solidFill>
                    <a:lnL w="0">
                      <a:solidFill>
                        <a:srgbClr val="0F4C5C"/>
                      </a:solidFill>
                    </a:lnL>
                    <a:lnR w="0">
                      <a:solidFill>
                        <a:srgbClr val="0F4C5C"/>
                      </a:solidFill>
                    </a:lnR>
                    <a:lnT w="0">
                      <a:solidFill>
                        <a:srgbClr val="0F4C5C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失败判据</a:t>
                      </a:r>
                    </a:p>
                  </a:txBody>
                  <a:tcPr marL="133350" marR="133350" marT="104775" marB="95250">
                    <a:solidFill>
                      <a:srgbClr val="0F4C5C"/>
                    </a:solidFill>
                    <a:lnL w="0">
                      <a:solidFill>
                        <a:srgbClr val="0F4C5C"/>
                      </a:solidFill>
                    </a:lnL>
                    <a:lnR w="0">
                      <a:solidFill>
                        <a:srgbClr val="0F4C5C"/>
                      </a:solidFill>
                    </a:lnR>
                    <a:lnT w="0">
                      <a:solidFill>
                        <a:srgbClr val="0F4C5C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  <a:tr h="493960"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0F4C5C"/>
                          </a:solidFill>
                          <a:latin typeface="Noto Sans CJK SC"/>
                          <a:ea typeface="Noto Sans CJK SC"/>
                        </a:rPr>
                        <a:t>RQ1 可辨识性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分离公共、歧义和未知可减少错误唯一归因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只通过大量拒判获得低错误率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  <a:tr h="498723"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0F4C5C"/>
                          </a:solidFill>
                          <a:latin typeface="Noto Sans CJK SC"/>
                          <a:ea typeface="Noto Sans CJK SC"/>
                        </a:rPr>
                        <a:t>RQ2 区域定位</a:t>
                      </a:r>
                    </a:p>
                  </a:txBody>
                  <a:tcPr marL="133350" marR="133350" marT="104775" marB="95250">
                    <a:solidFill>
                      <a:srgbClr val="F8F5EE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局部表示能恢复整组件匹配遗漏的混合</a:t>
                      </a:r>
                    </a:p>
                  </a:txBody>
                  <a:tcPr marL="133350" marR="133350" marT="104775" marB="95250">
                    <a:solidFill>
                      <a:srgbClr val="F8F5EE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收益仅来自真值边界泄漏</a:t>
                      </a:r>
                    </a:p>
                  </a:txBody>
                  <a:tcPr marL="133350" marR="133350" marT="104775" marB="95250">
                    <a:solidFill>
                      <a:srgbClr val="F8F5EE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  <a:tr h="498723"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0F4C5C"/>
                          </a:solidFill>
                          <a:latin typeface="Noto Sans CJK SC"/>
                          <a:ea typeface="Noto Sans CJK SC"/>
                        </a:rPr>
                        <a:t>RQ3 联合推断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有区分力的关系能改善候选竞争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同输入的成对汇总已同样有效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  <a:tr h="498723"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0F4C5C"/>
                          </a:solidFill>
                          <a:latin typeface="Noto Sans CJK SC"/>
                          <a:ea typeface="Noto Sans CJK SC"/>
                        </a:rPr>
                        <a:t>RQ4 开放集</a:t>
                      </a:r>
                    </a:p>
                  </a:txBody>
                  <a:tcPr marL="133350" marR="133350" marT="104775" marB="95250">
                    <a:solidFill>
                      <a:srgbClr val="F8F5EE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来源删除后能保留合理未知</a:t>
                      </a:r>
                    </a:p>
                  </a:txBody>
                  <a:tcPr marL="133350" marR="133350" marT="104775" marB="95250">
                    <a:solidFill>
                      <a:srgbClr val="F8F5EE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缺失来源被稳定吸附到近邻</a:t>
                      </a:r>
                    </a:p>
                  </a:txBody>
                  <a:tcPr marL="133350" marR="133350" marT="104775" marB="95250">
                    <a:solidFill>
                      <a:srgbClr val="F8F5EE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  <a:tr h="498723"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0F4C5C"/>
                          </a:solidFill>
                          <a:latin typeface="Noto Sans CJK SC"/>
                          <a:ea typeface="Noto Sans CJK SC"/>
                        </a:rPr>
                        <a:t>RQ5 辅助核查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LLM 降低疑难误判且成本可接受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只增加流畅解释或引入幻觉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52450" y="6334125"/>
            <a:ext cx="11087100" cy="9525"/>
          </a:xfrm>
          <a:prstGeom prst="rect">
            <a:avLst/>
          </a:prstGeom>
          <a:solidFill>
            <a:srgbClr val="E3D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2450" y="809625"/>
            <a:ext cx="57150" cy="437108"/>
          </a:xfrm>
          <a:prstGeom prst="rect">
            <a:avLst/>
          </a:prstGeom>
          <a:solidFill>
            <a:srgbClr val="D95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900" y="809625"/>
            <a:ext cx="10915650" cy="52283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442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16202B"/>
                </a:solidFill>
                <a:latin typeface="Noto Serif CJK SC"/>
                <a:ea typeface="Noto Serif CJK SC"/>
              </a:rPr>
              <a:t>07｜相关工作：三条直接技术线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3613100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核查状态 F。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 R01、R02 依据用户上传 PDF；R03 依据线上 §3、§5.1 和论文条目。不同论文使用不同数据集和标签，不能用各自报告的 AUC/F1 排成统一优劣榜。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2450" y="4435822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“目前只有 SkillTrace 做技能内容复用检测”的旧说法应撤回。研究空缺应通过统一任务和基线实验建立，而不是通过排除其他工作建立。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2450" y="428625"/>
            <a:ext cx="11087100" cy="2762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D95D39"/>
                </a:solidFill>
                <a:latin typeface="Noto Sans CJK SC"/>
                <a:ea typeface="Noto Sans CJK SC"/>
              </a:rPr>
              <a:t>SKILL PROVENANCE / V1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37278" y="428625"/>
            <a:ext cx="1502271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6B7686"/>
                </a:solidFill>
                <a:latin typeface="Noto Sans CJK SC"/>
                <a:ea typeface="Noto Sans CJK SC"/>
              </a:rPr>
              <a:t>研究方案 · 2026.10.30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2450" y="6343650"/>
            <a:ext cx="11087100" cy="3905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B7686"/>
                </a:solidFill>
                <a:latin typeface="Noto Sans CJK SC"/>
                <a:ea typeface="Noto Sans CJK SC"/>
              </a:rPr>
              <a:t>多来源部分归因 · 证据可复核，结论有边界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27296" y="6467475"/>
            <a:ext cx="412253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0F4C5C"/>
                </a:solidFill>
                <a:latin typeface="Noto Sans CJK SC"/>
                <a:ea typeface="Noto Sans CJK SC"/>
              </a:rPr>
              <a:t>08 / 35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52450" y="1456283"/>
          <a:ext cx="11087098" cy="1980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8891"/>
                <a:gridCol w="4115990"/>
                <a:gridCol w="5122217"/>
              </a:tblGrid>
              <a:tr h="489198"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工作</a:t>
                      </a:r>
                    </a:p>
                  </a:txBody>
                  <a:tcPr marL="133350" marR="133350" marT="104775" marB="95250">
                    <a:solidFill>
                      <a:srgbClr val="0F4C5C"/>
                    </a:solidFill>
                    <a:lnL w="0">
                      <a:solidFill>
                        <a:srgbClr val="0F4C5C"/>
                      </a:solidFill>
                    </a:lnL>
                    <a:lnR w="0">
                      <a:solidFill>
                        <a:srgbClr val="0F4C5C"/>
                      </a:solidFill>
                    </a:lnR>
                    <a:lnT w="0">
                      <a:solidFill>
                        <a:srgbClr val="0F4C5C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已核查能力</a:t>
                      </a:r>
                    </a:p>
                  </a:txBody>
                  <a:tcPr marL="133350" marR="133350" marT="104775" marB="95250">
                    <a:solidFill>
                      <a:srgbClr val="0F4C5C"/>
                    </a:solidFill>
                    <a:lnL w="0">
                      <a:solidFill>
                        <a:srgbClr val="0F4C5C"/>
                      </a:solidFill>
                    </a:lnL>
                    <a:lnR w="0">
                      <a:solidFill>
                        <a:srgbClr val="0F4C5C"/>
                      </a:solidFill>
                    </a:lnR>
                    <a:lnT w="0">
                      <a:solidFill>
                        <a:srgbClr val="0F4C5C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对本研究的启发与边界</a:t>
                      </a:r>
                    </a:p>
                  </a:txBody>
                  <a:tcPr marL="133350" marR="133350" marT="104775" marB="95250">
                    <a:solidFill>
                      <a:srgbClr val="0F4C5C"/>
                    </a:solidFill>
                    <a:lnL w="0">
                      <a:solidFill>
                        <a:srgbClr val="0F4C5C"/>
                      </a:solidFill>
                    </a:lnL>
                    <a:lnR w="0">
                      <a:solidFill>
                        <a:srgbClr val="0F4C5C"/>
                      </a:solidFill>
                    </a:lnR>
                    <a:lnT w="0">
                      <a:solidFill>
                        <a:srgbClr val="0F4C5C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  <a:tr h="493960"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2A7F8F"/>
                          </a:solidFill>
                          <a:latin typeface="Noto Sans CJK SC"/>
                          <a:ea typeface="Noto Sans CJK SC"/>
                          <a:hlinkClick r:id="rId2"/>
                        </a:rPr>
                        <a:t>R01 SkillTrace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E/I/O 成对审计、SOG、匹配证据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作为强对照与证据层；未完成本文的联合区域输出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  <a:tr h="498723"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2A7F8F"/>
                          </a:solidFill>
                          <a:latin typeface="Noto Sans CJK SC"/>
                          <a:ea typeface="Noto Sans CJK SC"/>
                          <a:hlinkClick r:id="rId3"/>
                        </a:rPr>
                        <a:t>R02 Decomp-FP</a:t>
                      </a:r>
                    </a:p>
                  </a:txBody>
                  <a:tcPr marL="133350" marR="133350" marT="104775" marB="95250">
                    <a:solidFill>
                      <a:srgbClr val="F8F5EE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组件指纹、家族关系、新颖性、SkillBOM</a:t>
                      </a:r>
                    </a:p>
                  </a:txBody>
                  <a:tcPr marL="133350" marR="133350" marT="104775" marB="95250">
                    <a:solidFill>
                      <a:srgbClr val="F8F5EE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用于候选检索；家族身份不等于唯一版本或复制路径</a:t>
                      </a:r>
                    </a:p>
                  </a:txBody>
                  <a:tcPr marL="133350" marR="133350" marT="104775" marB="95250">
                    <a:solidFill>
                      <a:srgbClr val="F8F5EE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  <a:tr h="498723"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2A7F8F"/>
                          </a:solidFill>
                          <a:latin typeface="Noto Sans CJK SC"/>
                          <a:ea typeface="Noto Sans CJK SC"/>
                          <a:hlinkClick r:id="rId4"/>
                        </a:rPr>
                        <a:t>R03 SkillReuse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YAML／自然语言／代码多模态克隆检测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另一个直接对照；克隆标签与历史来源有区别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52450" y="6334125"/>
            <a:ext cx="11087100" cy="9525"/>
          </a:xfrm>
          <a:prstGeom prst="rect">
            <a:avLst/>
          </a:prstGeom>
          <a:solidFill>
            <a:srgbClr val="E3D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2450" y="809625"/>
            <a:ext cx="57150" cy="437108"/>
          </a:xfrm>
          <a:prstGeom prst="rect">
            <a:avLst/>
          </a:prstGeom>
          <a:solidFill>
            <a:srgbClr val="D95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900" y="809625"/>
            <a:ext cx="10915650" cy="52283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442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16202B"/>
                </a:solidFill>
                <a:latin typeface="Noto Serif CJK SC"/>
                <a:ea typeface="Noto Serif CJK SC"/>
              </a:rPr>
              <a:t>08｜SkillTrace：可继承的方法与限制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1456283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F｜R01 §III-C–F、§IV-B/F/H、§V-C。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 E 比较自然语言 token；I 比较实现和命令 token；实现不足时为不适用。O 比较静态提取的操作块、激活、过程及资源流。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2450" y="2279005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SOG 在入库阶段由 LLM 辅助提取，之后缓存并确定性比较。O 的四项固定权重分别为 0.30、0.10、0.40、0.20；成对融合为各适用轨迹的 </a:t>
            </a:r>
            <a:r>
              <a:rPr sz="1485" b="0">
                <a:solidFill>
                  <a:srgbClr val="0F4C5C"/>
                </a:solidFill>
                <a:latin typeface="Noto Sans Mono CJK SC"/>
                <a:ea typeface="Noto Sans Mono CJK SC"/>
              </a:rPr>
              <a:t>max(sₖ/τₖ)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，τ 来自 N1 严格负例的第 95 百分位。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2450" y="3101726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限制：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过阈值表示进入复核；每轨迹 5% 校准不保证融合后的总体 5% 误报。N1 排除了 shared-template-only 情形；全局野生语料路由没有使用 O，以避免通用流程碰撞。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" y="3924448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P｜迁移方式：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保留证据指针，将匹配扩展到区域／局部子图；重新校准局部分数。它已有局部证据，不能称为“只有整包分数”。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2450" y="4747170"/>
            <a:ext cx="11087100" cy="42088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依据：</a:t>
            </a:r>
            <a:r>
              <a:rPr sz="1650" b="0">
                <a:solidFill>
                  <a:srgbClr val="2A7F8F"/>
                </a:solidFill>
                <a:latin typeface="Noto Sans CJK SC"/>
                <a:ea typeface="Noto Sans CJK SC"/>
                <a:hlinkClick r:id="rId2"/>
              </a:rPr>
              <a:t>R01 原文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2450" y="428625"/>
            <a:ext cx="11087100" cy="2762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D95D39"/>
                </a:solidFill>
                <a:latin typeface="Noto Sans CJK SC"/>
                <a:ea typeface="Noto Sans CJK SC"/>
              </a:rPr>
              <a:t>SKILL PROVENANCE / V1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37278" y="428625"/>
            <a:ext cx="1502271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6B7686"/>
                </a:solidFill>
                <a:latin typeface="Noto Sans CJK SC"/>
                <a:ea typeface="Noto Sans CJK SC"/>
              </a:rPr>
              <a:t>研究方案 · 2026.10.30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2450" y="6343650"/>
            <a:ext cx="11087100" cy="3905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B7686"/>
                </a:solidFill>
                <a:latin typeface="Noto Sans CJK SC"/>
                <a:ea typeface="Noto Sans CJK SC"/>
              </a:rPr>
              <a:t>多来源部分归因 · 证据可复核，结论有边界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27296" y="6467475"/>
            <a:ext cx="412253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0F4C5C"/>
                </a:solidFill>
                <a:latin typeface="Noto Sans CJK SC"/>
                <a:ea typeface="Noto Sans CJK SC"/>
              </a:rPr>
              <a:t>09 / 35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52450" y="6334125"/>
            <a:ext cx="11087100" cy="9525"/>
          </a:xfrm>
          <a:prstGeom prst="rect">
            <a:avLst/>
          </a:prstGeom>
          <a:solidFill>
            <a:srgbClr val="E3D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2450" y="809625"/>
            <a:ext cx="57150" cy="437108"/>
          </a:xfrm>
          <a:prstGeom prst="rect">
            <a:avLst/>
          </a:prstGeom>
          <a:solidFill>
            <a:srgbClr val="D95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900" y="809625"/>
            <a:ext cx="10915650" cy="52283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442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16202B"/>
                </a:solidFill>
                <a:latin typeface="Noto Serif CJK SC"/>
                <a:ea typeface="Noto Serif CJK SC"/>
              </a:rPr>
              <a:t>09｜Decomp-FP：身份指纹与版本标识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1456283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F｜R02 §2、§6.3、§7、§9。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 prompt、code、tools 分别编码并投影为 320 bit，三组件为 120 字节。缺失组件不参与对应比较；需要记录编码器版本。bank 是五个 64 位机器字布局，精度来自总位数，而非分组本身增加信息。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2450" y="2279005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原文的身份是</a:t>
            </a: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技能家族身份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。SkillBOM 同时包含模糊指纹和密码学内容哈希；已有 novelty 检测和人工复核路由，不能说它完全没有未知处理。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2450" y="3101726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P｜本研究采用双层标识：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内容哈希标识精确快照；组件指纹查找近邻及家族。局部指纹是进一步扩展，不能直接沿用整组件实验结论。指纹相似度也不等于作者身份、行为安全或真实复制概率。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" y="3924448"/>
            <a:ext cx="11087100" cy="42088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依据：</a:t>
            </a:r>
            <a:r>
              <a:rPr sz="1650" b="0">
                <a:solidFill>
                  <a:srgbClr val="2A7F8F"/>
                </a:solidFill>
                <a:latin typeface="Noto Sans CJK SC"/>
                <a:ea typeface="Noto Sans CJK SC"/>
                <a:hlinkClick r:id="rId2"/>
              </a:rPr>
              <a:t>R02 原文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2450" y="428625"/>
            <a:ext cx="11087100" cy="2762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D95D39"/>
                </a:solidFill>
                <a:latin typeface="Noto Sans CJK SC"/>
                <a:ea typeface="Noto Sans CJK SC"/>
              </a:rPr>
              <a:t>SKILL PROVENANCE / V1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37278" y="428625"/>
            <a:ext cx="1502271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6B7686"/>
                </a:solidFill>
                <a:latin typeface="Noto Sans CJK SC"/>
                <a:ea typeface="Noto Sans CJK SC"/>
              </a:rPr>
              <a:t>研究方案 · 2026.10.30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450" y="6343650"/>
            <a:ext cx="11087100" cy="3905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B7686"/>
                </a:solidFill>
                <a:latin typeface="Noto Sans CJK SC"/>
                <a:ea typeface="Noto Sans CJK SC"/>
              </a:rPr>
              <a:t>多来源部分归因 · 证据可复核，结论有边界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27296" y="6467475"/>
            <a:ext cx="412253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0F4C5C"/>
                </a:solidFill>
                <a:latin typeface="Noto Sans CJK SC"/>
                <a:ea typeface="Noto Sans CJK SC"/>
              </a:rPr>
              <a:t>10 / 35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52450" y="6334125"/>
            <a:ext cx="11087100" cy="9525"/>
          </a:xfrm>
          <a:prstGeom prst="rect">
            <a:avLst/>
          </a:prstGeom>
          <a:solidFill>
            <a:srgbClr val="E3D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2450" y="809625"/>
            <a:ext cx="57150" cy="437108"/>
          </a:xfrm>
          <a:prstGeom prst="rect">
            <a:avLst/>
          </a:prstGeom>
          <a:solidFill>
            <a:srgbClr val="D95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900" y="809625"/>
            <a:ext cx="10915650" cy="52283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442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16202B"/>
                </a:solidFill>
                <a:latin typeface="Noto Serif CJK SC"/>
                <a:ea typeface="Noto Serif CJK SC"/>
              </a:rPr>
              <a:t>10｜组件分类与依赖图谱：各自负责什么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1456283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F｜分类学。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 </a:t>
            </a:r>
            <a:r>
              <a:rPr sz="1650" b="0">
                <a:solidFill>
                  <a:srgbClr val="2A7F8F"/>
                </a:solidFill>
                <a:latin typeface="Noto Sans CJK SC"/>
                <a:ea typeface="Noto Sans CJK SC"/>
                <a:hlinkClick r:id="rId2"/>
              </a:rPr>
              <a:t>R04 §III-A、§IV 表 I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研究 SKILL.md 正文的语义组件，报告 13 个高层、44 个低层类别；分析主要以 H2 段落为单位。它不等于整个 Skill 包的文件分类，更不是来源分类器。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2450" y="2279005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F｜依赖图。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 </a:t>
            </a:r>
            <a:r>
              <a:rPr sz="1650" b="0">
                <a:solidFill>
                  <a:srgbClr val="2A7F8F"/>
                </a:solidFill>
                <a:latin typeface="Noto Sans CJK SC"/>
                <a:ea typeface="Noto Sans CJK SC"/>
                <a:hlinkClick r:id="rId3"/>
              </a:rPr>
              <a:t>R05 §II-B2、§III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提出 ASSCs 和 SkillDepAnalyzer，恢复 skill／package／service 依赖。它明确区分依赖重建与克隆检测；弱证据可保留为注释。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2450" y="3101726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P｜组合方式：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分类学作为文档区域的语义标签；脚本、配置和资源另按物理类型解析。ASSCs 式依赖帮助寻找上游候选与核对使用关系，但只有内容匹配和版本证据才能支持区域归因。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" y="3924448"/>
            <a:ext cx="11087100" cy="42088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“使用同一个包／服务”不能直接推出“复制了同一实现”。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2450" y="428625"/>
            <a:ext cx="11087100" cy="2762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D95D39"/>
                </a:solidFill>
                <a:latin typeface="Noto Sans CJK SC"/>
                <a:ea typeface="Noto Sans CJK SC"/>
              </a:rPr>
              <a:t>SKILL PROVENANCE / V1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37278" y="428625"/>
            <a:ext cx="1502271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6B7686"/>
                </a:solidFill>
                <a:latin typeface="Noto Sans CJK SC"/>
                <a:ea typeface="Noto Sans CJK SC"/>
              </a:rPr>
              <a:t>研究方案 · 2026.10.30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450" y="6343650"/>
            <a:ext cx="11087100" cy="3905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B7686"/>
                </a:solidFill>
                <a:latin typeface="Noto Sans CJK SC"/>
                <a:ea typeface="Noto Sans CJK SC"/>
              </a:rPr>
              <a:t>多来源部分归因 · 证据可复核，结论有边界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27296" y="6467475"/>
            <a:ext cx="412253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0F4C5C"/>
                </a:solidFill>
                <a:latin typeface="Noto Sans CJK SC"/>
                <a:ea typeface="Noto Sans CJK SC"/>
              </a:rPr>
              <a:t>11 / 35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52450" y="6334125"/>
            <a:ext cx="11087100" cy="9525"/>
          </a:xfrm>
          <a:prstGeom prst="rect">
            <a:avLst/>
          </a:prstGeom>
          <a:solidFill>
            <a:srgbClr val="E3D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2450" y="809625"/>
            <a:ext cx="57150" cy="437108"/>
          </a:xfrm>
          <a:prstGeom prst="rect">
            <a:avLst/>
          </a:prstGeom>
          <a:solidFill>
            <a:srgbClr val="D95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900" y="809625"/>
            <a:ext cx="10915650" cy="52283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442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16202B"/>
                </a:solidFill>
                <a:latin typeface="Noto Serif CJK SC"/>
                <a:ea typeface="Noto Serif CJK SC"/>
              </a:rPr>
              <a:t>11｜软件复用工作提供的启发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4111823"/>
            <a:ext cx="11087100" cy="42088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P｜启发：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先找到相似内容，再判断哪些证据具有来源区分力。频繁出现可降低特异性，但不能单独证明公共来源。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2450" y="428625"/>
            <a:ext cx="11087100" cy="2762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D95D39"/>
                </a:solidFill>
                <a:latin typeface="Noto Sans CJK SC"/>
                <a:ea typeface="Noto Sans CJK SC"/>
              </a:rPr>
              <a:t>SKILL PROVENANCE / V1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37278" y="428625"/>
            <a:ext cx="1502271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6B7686"/>
                </a:solidFill>
                <a:latin typeface="Noto Sans CJK SC"/>
                <a:ea typeface="Noto Sans CJK SC"/>
              </a:rPr>
              <a:t>研究方案 · 2026.10.30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" y="6343650"/>
            <a:ext cx="11087100" cy="3905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B7686"/>
                </a:solidFill>
                <a:latin typeface="Noto Sans CJK SC"/>
                <a:ea typeface="Noto Sans CJK SC"/>
              </a:rPr>
              <a:t>多来源部分归因 · 证据可复核，结论有边界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27296" y="6467475"/>
            <a:ext cx="412253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0F4C5C"/>
                </a:solidFill>
                <a:latin typeface="Noto Sans CJK SC"/>
                <a:ea typeface="Noto Sans CJK SC"/>
              </a:rPr>
              <a:t>12 / 35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52450" y="1456283"/>
          <a:ext cx="11087099" cy="24793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2149"/>
                <a:gridCol w="4044255"/>
                <a:gridCol w="4610695"/>
              </a:tblGrid>
              <a:tr h="489198"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工作／核查程度</a:t>
                      </a:r>
                    </a:p>
                  </a:txBody>
                  <a:tcPr marL="133350" marR="133350" marT="104775" marB="95250">
                    <a:solidFill>
                      <a:srgbClr val="0F4C5C"/>
                    </a:solidFill>
                    <a:lnL w="0">
                      <a:solidFill>
                        <a:srgbClr val="0F4C5C"/>
                      </a:solidFill>
                    </a:lnL>
                    <a:lnR w="0">
                      <a:solidFill>
                        <a:srgbClr val="0F4C5C"/>
                      </a:solidFill>
                    </a:lnR>
                    <a:lnT w="0">
                      <a:solidFill>
                        <a:srgbClr val="0F4C5C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可借鉴思路</a:t>
                      </a:r>
                    </a:p>
                  </a:txBody>
                  <a:tcPr marL="133350" marR="133350" marT="104775" marB="95250">
                    <a:solidFill>
                      <a:srgbClr val="0F4C5C"/>
                    </a:solidFill>
                    <a:lnL w="0">
                      <a:solidFill>
                        <a:srgbClr val="0F4C5C"/>
                      </a:solidFill>
                    </a:lnL>
                    <a:lnR w="0">
                      <a:solidFill>
                        <a:srgbClr val="0F4C5C"/>
                      </a:solidFill>
                    </a:lnR>
                    <a:lnT w="0">
                      <a:solidFill>
                        <a:srgbClr val="0F4C5C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迁移限制</a:t>
                      </a:r>
                    </a:p>
                  </a:txBody>
                  <a:tcPr marL="133350" marR="133350" marT="104775" marB="95250">
                    <a:solidFill>
                      <a:srgbClr val="0F4C5C"/>
                    </a:solidFill>
                    <a:lnL w="0">
                      <a:solidFill>
                        <a:srgbClr val="0F4C5C"/>
                      </a:solidFill>
                    </a:lnL>
                    <a:lnR w="0">
                      <a:solidFill>
                        <a:srgbClr val="0F4C5C"/>
                      </a:solidFill>
                    </a:lnR>
                    <a:lnT w="0">
                      <a:solidFill>
                        <a:srgbClr val="0F4C5C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  <a:tr h="493960"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2A7F8F"/>
                          </a:solidFill>
                          <a:latin typeface="Noto Sans CJK SC"/>
                          <a:ea typeface="Noto Sans CJK SC"/>
                          <a:hlinkClick r:id="rId2"/>
                        </a:rPr>
                        <a:t>R06 CENTRIS，F，§III-C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分割应用代码和借入代码，降低嵌套复用误报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结合共同函数、版本与出现时间；不是简单频率阈值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  <a:tr h="498723"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2A7F8F"/>
                          </a:solidFill>
                          <a:latin typeface="Noto Sans CJK SC"/>
                          <a:ea typeface="Noto Sans CJK SC"/>
                          <a:hlinkClick r:id="rId3"/>
                        </a:rPr>
                        <a:t>R07 LibAM，F，§2–3</a:t>
                      </a:r>
                    </a:p>
                  </a:txBody>
                  <a:tcPr marL="133350" marR="133350" marT="104775" marB="95250">
                    <a:solidFill>
                      <a:srgbClr val="F8F5EE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函数锚点扩展为调用图区域，再匹配结构</a:t>
                      </a:r>
                    </a:p>
                  </a:txBody>
                  <a:tcPr marL="133350" marR="133350" marT="104775" marB="95250">
                    <a:solidFill>
                      <a:srgbClr val="F8F5EE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二进制函数区域不等于 Skill 文档／操作区域</a:t>
                      </a:r>
                    </a:p>
                  </a:txBody>
                  <a:tcPr marL="133350" marR="133350" marT="104775" marB="95250">
                    <a:solidFill>
                      <a:srgbClr val="F8F5EE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  <a:tr h="498723"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2A7F8F"/>
                          </a:solidFill>
                          <a:latin typeface="Noto Sans CJK SC"/>
                          <a:ea typeface="Noto Sans CJK SC"/>
                          <a:hlinkClick r:id="rId4"/>
                        </a:rPr>
                        <a:t>R08 DeRed，A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利用拓扑关系缓解 deceptive reuse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全文未取得；不写死中心性高低对应来源方向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  <a:tr h="498723"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2A7F8F"/>
                          </a:solidFill>
                          <a:latin typeface="Noto Sans CJK SC"/>
                          <a:ea typeface="Noto Sans CJK SC"/>
                          <a:hlinkClick r:id="rId5"/>
                        </a:rPr>
                        <a:t>R09 BLADE，A</a:t>
                      </a:r>
                    </a:p>
                  </a:txBody>
                  <a:tcPr marL="133350" marR="133350" marT="104775" marB="95250">
                    <a:solidFill>
                      <a:srgbClr val="F8F5EE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宽召回后收集证据，结构化核查候选</a:t>
                      </a:r>
                    </a:p>
                  </a:txBody>
                  <a:tcPr marL="133350" marR="133350" marT="104775" marB="95250">
                    <a:solidFill>
                      <a:srgbClr val="F8F5EE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官方摘要支持流程；不证明 LLM 已解决本任务</a:t>
                      </a:r>
                    </a:p>
                  </a:txBody>
                  <a:tcPr marL="133350" marR="133350" marT="104775" marB="95250">
                    <a:solidFill>
                      <a:srgbClr val="F8F5EE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52450" y="6334125"/>
            <a:ext cx="11087100" cy="9525"/>
          </a:xfrm>
          <a:prstGeom prst="rect">
            <a:avLst/>
          </a:prstGeom>
          <a:solidFill>
            <a:srgbClr val="E3D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2450" y="809625"/>
            <a:ext cx="57150" cy="437108"/>
          </a:xfrm>
          <a:prstGeom prst="rect">
            <a:avLst/>
          </a:prstGeom>
          <a:solidFill>
            <a:srgbClr val="D95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900" y="809625"/>
            <a:ext cx="10915650" cy="52283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442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16202B"/>
                </a:solidFill>
                <a:latin typeface="Noto Serif CJK SC"/>
                <a:ea typeface="Noto Serif CJK SC"/>
              </a:rPr>
              <a:t>12｜可靠输出与邻近任务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1456283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A7F8F"/>
                </a:solidFill>
                <a:latin typeface="Noto Sans CJK SC"/>
                <a:ea typeface="Noto Sans CJK SC"/>
                <a:hlinkClick r:id="rId2"/>
              </a:rPr>
              <a:t>R10 选择性分类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研究拒判与风险—覆盖率权衡。</a:t>
            </a: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A｜本文借鉴评价口径，不能把其无噪声条件下的理论保证直接移植到相关区域、多源标签和检索遗漏场景。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2450" y="2279005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A7F8F"/>
                </a:solidFill>
                <a:latin typeface="Noto Sans CJK SC"/>
                <a:ea typeface="Noto Sans CJK SC"/>
                <a:hlinkClick r:id="rId3"/>
              </a:rPr>
              <a:t>R11 RedAct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研究执行轨迹中的能力泄漏、保护及行为水印。</a:t>
            </a: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A｜它属于邻近问题；主动水印与真实执行轨迹的结果，不证明 SkillTrace 的被动静态 SOG 能恢复复制历史。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2450" y="3101726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P｜候选贡献边界：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“组件拆分”“图结构”“多个来源”“未知按钮”和“LLM 复核”均已有思想来源。可能的贡献是：统一任务与可辨识性标注，以及在相同候选和证据下，公共内容处理与候选竞争是否确实改善可靠区域归因。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" y="3924448"/>
            <a:ext cx="11087100" cy="42088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V1 不承诺统计覆盖保证；如未来引入共形方法，需重新检验交换性、标签空间、检索遗漏和多源区域定义。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2450" y="428625"/>
            <a:ext cx="11087100" cy="2762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D95D39"/>
                </a:solidFill>
                <a:latin typeface="Noto Sans CJK SC"/>
                <a:ea typeface="Noto Sans CJK SC"/>
              </a:rPr>
              <a:t>SKILL PROVENANCE / V1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37278" y="428625"/>
            <a:ext cx="1502271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6B7686"/>
                </a:solidFill>
                <a:latin typeface="Noto Sans CJK SC"/>
                <a:ea typeface="Noto Sans CJK SC"/>
              </a:rPr>
              <a:t>研究方案 · 2026.10.30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450" y="6343650"/>
            <a:ext cx="11087100" cy="3905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B7686"/>
                </a:solidFill>
                <a:latin typeface="Noto Sans CJK SC"/>
                <a:ea typeface="Noto Sans CJK SC"/>
              </a:rPr>
              <a:t>多来源部分归因 · 证据可复核，结论有边界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27296" y="6467475"/>
            <a:ext cx="412253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0F4C5C"/>
                </a:solidFill>
                <a:latin typeface="Noto Sans CJK SC"/>
                <a:ea typeface="Noto Sans CJK SC"/>
              </a:rPr>
              <a:t>13 / 35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52450" y="6334125"/>
            <a:ext cx="11087100" cy="9525"/>
          </a:xfrm>
          <a:prstGeom prst="rect">
            <a:avLst/>
          </a:prstGeom>
          <a:solidFill>
            <a:srgbClr val="E3D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2450" y="809625"/>
            <a:ext cx="57150" cy="437108"/>
          </a:xfrm>
          <a:prstGeom prst="rect">
            <a:avLst/>
          </a:prstGeom>
          <a:solidFill>
            <a:srgbClr val="D95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900" y="809625"/>
            <a:ext cx="10915650" cy="52283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442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16202B"/>
                </a:solidFill>
                <a:latin typeface="Noto Serif CJK SC"/>
                <a:ea typeface="Noto Serif CJK SC"/>
              </a:rPr>
              <a:t>13｜总体架构与模块职责</a:t>
            </a:r>
          </a:p>
        </p:txBody>
      </p:sp>
      <p:sp>
        <p:nvSpPr>
          <p:cNvPr id="6" name="Rectangle 5"/>
          <p:cNvSpPr/>
          <p:nvPr/>
        </p:nvSpPr>
        <p:spPr>
          <a:xfrm>
            <a:off x="552450" y="1456283"/>
            <a:ext cx="11087100" cy="3987254"/>
          </a:xfrm>
          <a:prstGeom prst="rect">
            <a:avLst/>
          </a:prstGeom>
          <a:solidFill>
            <a:srgbClr val="FFFFFF"/>
          </a:solidFill>
          <a:ln w="7620">
            <a:solidFill>
              <a:srgbClr val="E3DD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2450" y="1456283"/>
            <a:ext cx="38100" cy="3987254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1608683"/>
            <a:ext cx="10668000" cy="3768179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0F4C5C"/>
                </a:solidFill>
                <a:latin typeface="Noto Sans Mono CJK SC"/>
                <a:ea typeface="Noto Sans Mono CJK SC"/>
              </a:rPr>
              <a:t>候选库／目标包／公共资源</a:t>
            </a:r>
            <a:br/>
            <a:r>
              <a:rPr sz="1275" b="0">
                <a:solidFill>
                  <a:srgbClr val="0F4C5C"/>
                </a:solidFill>
                <a:latin typeface="Noto Sans Mono CJK SC"/>
                <a:ea typeface="Noto Sans Mono CJK SC"/>
              </a:rPr>
              <a:t>          ↓</a:t>
            </a:r>
            <a:br/>
            <a:r>
              <a:rPr sz="1275" b="0">
                <a:solidFill>
                  <a:srgbClr val="0F4C5C"/>
                </a:solidFill>
                <a:latin typeface="Noto Sans Mono CJK SC"/>
                <a:ea typeface="Noto Sans Mono CJK SC"/>
              </a:rPr>
              <a:t>版本冻结 → 解析切片 → 文档语义标签与关系提取</a:t>
            </a:r>
            <a:br/>
            <a:r>
              <a:rPr sz="1275" b="0">
                <a:solidFill>
                  <a:srgbClr val="0F4C5C"/>
                </a:solidFill>
                <a:latin typeface="Noto Sans Mono CJK SC"/>
                <a:ea typeface="Noto Sans Mono CJK SC"/>
              </a:rPr>
              <a:t>          ↓</a:t>
            </a:r>
            <a:br/>
            <a:r>
              <a:rPr sz="1275" b="0">
                <a:solidFill>
                  <a:srgbClr val="0F4C5C"/>
                </a:solidFill>
                <a:latin typeface="Noto Sans Mono CJK SC"/>
                <a:ea typeface="Noto Sans Mono CJK SC"/>
              </a:rPr>
              <a:t>精确与词法检索 ∪ 组件指纹检索 ∪ 局部语义检索</a:t>
            </a:r>
            <a:br/>
            <a:r>
              <a:rPr sz="1275" b="0">
                <a:solidFill>
                  <a:srgbClr val="0F4C5C"/>
                </a:solidFill>
                <a:latin typeface="Noto Sans Mono CJK SC"/>
                <a:ea typeface="Noto Sans Mono CJK SC"/>
              </a:rPr>
              <a:t>          ↓</a:t>
            </a:r>
            <a:br/>
            <a:r>
              <a:rPr sz="1275" b="0">
                <a:solidFill>
                  <a:srgbClr val="0F4C5C"/>
                </a:solidFill>
                <a:latin typeface="Noto Sans Mono CJK SC"/>
                <a:ea typeface="Noto Sans Mono CJK SC"/>
              </a:rPr>
              <a:t>候选局部 E／I／O 匹配，保存源端与目标端位置</a:t>
            </a:r>
            <a:br/>
            <a:r>
              <a:rPr sz="1275" b="0">
                <a:solidFill>
                  <a:srgbClr val="0F4C5C"/>
                </a:solidFill>
                <a:latin typeface="Noto Sans Mono CJK SC"/>
                <a:ea typeface="Noto Sans Mono CJK SC"/>
              </a:rPr>
              <a:t>          ↓</a:t>
            </a:r>
            <a:br/>
            <a:r>
              <a:rPr sz="1275" b="0">
                <a:solidFill>
                  <a:srgbClr val="0F4C5C"/>
                </a:solidFill>
                <a:latin typeface="Noto Sans Mono CJK SC"/>
                <a:ea typeface="Noto Sans Mono CJK SC"/>
              </a:rPr>
              <a:t>已知公共内容核对 + 候选共有证据标记</a:t>
            </a:r>
            <a:br/>
            <a:r>
              <a:rPr sz="1275" b="0">
                <a:solidFill>
                  <a:srgbClr val="0F4C5C"/>
                </a:solidFill>
                <a:latin typeface="Noto Sans Mono CJK SC"/>
                <a:ea typeface="Noto Sans Mono CJK SC"/>
              </a:rPr>
              <a:t>          ↓</a:t>
            </a:r>
            <a:br/>
            <a:r>
              <a:rPr sz="1275" b="0">
                <a:solidFill>
                  <a:srgbClr val="0F4C5C"/>
                </a:solidFill>
                <a:latin typeface="Noto Sans Mono CJK SC"/>
                <a:ea typeface="Noto Sans Mono CJK SC"/>
              </a:rPr>
              <a:t>多候选竞争与关系一致性推断</a:t>
            </a:r>
            <a:br/>
            <a:r>
              <a:rPr sz="1275" b="0">
                <a:solidFill>
                  <a:srgbClr val="0F4C5C"/>
                </a:solidFill>
                <a:latin typeface="Noto Sans Mono CJK SC"/>
                <a:ea typeface="Noto Sans Mono CJK SC"/>
              </a:rPr>
              <a:t>          ↓</a:t>
            </a:r>
            <a:br/>
            <a:r>
              <a:rPr sz="1275" b="0">
                <a:solidFill>
                  <a:srgbClr val="0F4C5C"/>
                </a:solidFill>
                <a:latin typeface="Noto Sans Mono CJK SC"/>
                <a:ea typeface="Noto Sans Mono CJK SC"/>
              </a:rPr>
              <a:t>单一支持／公共内容／歧义／未知 → 汇总多源混合</a:t>
            </a:r>
            <a:br/>
            <a:r>
              <a:rPr sz="1275" b="0">
                <a:solidFill>
                  <a:srgbClr val="0F4C5C"/>
                </a:solidFill>
                <a:latin typeface="Noto Sans Mono CJK SC"/>
                <a:ea typeface="Noto Sans Mono CJK SC"/>
              </a:rPr>
              <a:t>          ↕</a:t>
            </a:r>
            <a:br/>
            <a:r>
              <a:rPr sz="1275" b="0">
                <a:solidFill>
                  <a:srgbClr val="0F4C5C"/>
                </a:solidFill>
                <a:latin typeface="Noto Sans Mono CJK SC"/>
                <a:ea typeface="Noto Sans Mono CJK SC"/>
              </a:rPr>
              <a:t>疑难案例 LLM 辅助核查（输出须绑定证据）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" y="5614987"/>
            <a:ext cx="11087100" cy="6953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4C5C"/>
                </a:solidFill>
                <a:latin typeface="Noto Sans CJK SC"/>
                <a:ea typeface="Noto Sans CJK SC"/>
              </a:rPr>
              <a:t>P｜实现原则：</a:t>
            </a:r>
            <a:r>
              <a:rPr sz="1500" b="0">
                <a:solidFill>
                  <a:srgbClr val="3D4A5C"/>
                </a:solidFill>
                <a:latin typeface="Noto Sans CJK SC"/>
                <a:ea typeface="Noto Sans CJK SC"/>
              </a:rPr>
              <a:t>先完成确定性局部匹配和保守输出，再验证联合图与 LLM 的增量价值。检索、评分、公共标记、关系、判定分别记录，避免无法追溯的端到端总分。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2450" y="428625"/>
            <a:ext cx="11087100" cy="2762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D95D39"/>
                </a:solidFill>
                <a:latin typeface="Noto Sans CJK SC"/>
                <a:ea typeface="Noto Sans CJK SC"/>
              </a:rPr>
              <a:t>SKILL PROVENANCE / V1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37278" y="428625"/>
            <a:ext cx="1502271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6B7686"/>
                </a:solidFill>
                <a:latin typeface="Noto Sans CJK SC"/>
                <a:ea typeface="Noto Sans CJK SC"/>
              </a:rPr>
              <a:t>研究方案 · 2026.10.30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450" y="6343650"/>
            <a:ext cx="11087100" cy="3905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B7686"/>
                </a:solidFill>
                <a:latin typeface="Noto Sans CJK SC"/>
                <a:ea typeface="Noto Sans CJK SC"/>
              </a:rPr>
              <a:t>多来源部分归因 · 证据可复核，结论有边界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27296" y="6467475"/>
            <a:ext cx="412253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0F4C5C"/>
                </a:solidFill>
                <a:latin typeface="Noto Sans CJK SC"/>
                <a:ea typeface="Noto Sans CJK SC"/>
              </a:rPr>
              <a:t>14 / 35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52450" y="6334125"/>
            <a:ext cx="11087100" cy="9525"/>
          </a:xfrm>
          <a:prstGeom prst="rect">
            <a:avLst/>
          </a:prstGeom>
          <a:solidFill>
            <a:srgbClr val="E3D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2450" y="809625"/>
            <a:ext cx="57150" cy="437108"/>
          </a:xfrm>
          <a:prstGeom prst="rect">
            <a:avLst/>
          </a:prstGeom>
          <a:solidFill>
            <a:srgbClr val="D95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900" y="809625"/>
            <a:ext cx="10915650" cy="52283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442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16202B"/>
                </a:solidFill>
                <a:latin typeface="Noto Serif CJK SC"/>
                <a:ea typeface="Noto Serif CJK SC"/>
              </a:rPr>
              <a:t>14｜数据表示：三种粒度、两类图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1456283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P｜三级对象：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包版本 → 组件／文件 → 区域。版本记录文件清单、原始字节 SHA-256、采集日期和来源地址；规范化文本另存，不能覆盖原始内容。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2450" y="2279005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区域包含 </a:t>
            </a:r>
            <a:r>
              <a:rPr sz="1485" b="0">
                <a:solidFill>
                  <a:srgbClr val="0F4C5C"/>
                </a:solidFill>
                <a:latin typeface="Noto Sans Mono CJK SC"/>
                <a:ea typeface="Noto Sans Mono CJK SC"/>
              </a:rPr>
              <a:t>region_id、file、start/end、physical_type、semantic_tags、parent_id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。Markdown 按标题与段落，代码按函数并可细分语句块，配置按字段组；切片规则在评估前冻结。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2450" y="3101726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包内图：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引用、调用、参数绑定、先后、分支和资源流。</a:t>
            </a: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跨包图：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声明依赖、解析到的依赖、历史来源声明与内容匹配边。不同边类型不可混用。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" y="3924448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每条边保存证据位置、提取方式和不确定性；模型推断边不能伪装成实测事实。操作块可关联多个文件区域。缺失边表示未知，不必作为关系冲突。文档语义标签可多选，首轮不强制训练 44 类分类器。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2450" y="428625"/>
            <a:ext cx="11087100" cy="2762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D95D39"/>
                </a:solidFill>
                <a:latin typeface="Noto Sans CJK SC"/>
                <a:ea typeface="Noto Sans CJK SC"/>
              </a:rPr>
              <a:t>SKILL PROVENANCE / V1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37278" y="428625"/>
            <a:ext cx="1502271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6B7686"/>
                </a:solidFill>
                <a:latin typeface="Noto Sans CJK SC"/>
                <a:ea typeface="Noto Sans CJK SC"/>
              </a:rPr>
              <a:t>研究方案 · 2026.10.30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450" y="6343650"/>
            <a:ext cx="11087100" cy="3905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B7686"/>
                </a:solidFill>
                <a:latin typeface="Noto Sans CJK SC"/>
                <a:ea typeface="Noto Sans CJK SC"/>
              </a:rPr>
              <a:t>多来源部分归因 · 证据可复核，结论有边界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27296" y="6467475"/>
            <a:ext cx="412253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0F4C5C"/>
                </a:solidFill>
                <a:latin typeface="Noto Sans CJK SC"/>
                <a:ea typeface="Noto Sans CJK SC"/>
              </a:rPr>
              <a:t>15 / 35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52450" y="6334125"/>
            <a:ext cx="11087100" cy="9525"/>
          </a:xfrm>
          <a:prstGeom prst="rect">
            <a:avLst/>
          </a:prstGeom>
          <a:solidFill>
            <a:srgbClr val="E3D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2450" y="809625"/>
            <a:ext cx="57150" cy="437108"/>
          </a:xfrm>
          <a:prstGeom prst="rect">
            <a:avLst/>
          </a:prstGeom>
          <a:solidFill>
            <a:srgbClr val="D95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900" y="809625"/>
            <a:ext cx="10915650" cy="52283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442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16202B"/>
                </a:solidFill>
                <a:latin typeface="Noto Serif CJK SC"/>
                <a:ea typeface="Noto Serif CJK SC"/>
              </a:rPr>
              <a:t>15｜多路检索与局部匹配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1456283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P｜三路候选取并集：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精确／规范化词法匹配；Decomp-FP 式组件近邻；区域 embedding 近邻。分类仅排序，不作为跨类复用的硬过滤。公共组件库参与检索。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2450" y="2279005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组件指纹主要负责召回，避免其与 E/I 使用同一内容时被重复当成独立证据。短片段先用词法和上下文；局部 SimHash 在规模需要时再加入并验证。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2450" y="3101726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局部 E/I 保存 token 或语句对齐；O 比较区域关联的操作子图和边界上下文。报告目标覆盖、源端覆盖、匹配长度及稀有性。短目标对应长源片段时，Jaccard 可能低，应比较局部对齐／包含度基线。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" y="3924448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阈值按区域类型、长度和可用轨迹在开发集校准；稀疏分组回退到共享阈值。禁止直接采用论文整包阈值作为局部唯一来源判据。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2450" y="428625"/>
            <a:ext cx="11087100" cy="2762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D95D39"/>
                </a:solidFill>
                <a:latin typeface="Noto Sans CJK SC"/>
                <a:ea typeface="Noto Sans CJK SC"/>
              </a:rPr>
              <a:t>SKILL PROVENANCE / V1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37278" y="428625"/>
            <a:ext cx="1502271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6B7686"/>
                </a:solidFill>
                <a:latin typeface="Noto Sans CJK SC"/>
                <a:ea typeface="Noto Sans CJK SC"/>
              </a:rPr>
              <a:t>研究方案 · 2026.10.30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450" y="6343650"/>
            <a:ext cx="11087100" cy="3905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B7686"/>
                </a:solidFill>
                <a:latin typeface="Noto Sans CJK SC"/>
                <a:ea typeface="Noto Sans CJK SC"/>
              </a:rPr>
              <a:t>多来源部分归因 · 证据可复核，结论有边界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27296" y="6467475"/>
            <a:ext cx="412253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0F4C5C"/>
                </a:solidFill>
                <a:latin typeface="Noto Sans CJK SC"/>
                <a:ea typeface="Noto Sans CJK SC"/>
              </a:rPr>
              <a:t>16 / 35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52450" y="6334125"/>
            <a:ext cx="11087100" cy="9525"/>
          </a:xfrm>
          <a:prstGeom prst="rect">
            <a:avLst/>
          </a:prstGeom>
          <a:solidFill>
            <a:srgbClr val="E3D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2450" y="809625"/>
            <a:ext cx="57150" cy="437108"/>
          </a:xfrm>
          <a:prstGeom prst="rect">
            <a:avLst/>
          </a:prstGeom>
          <a:solidFill>
            <a:srgbClr val="D95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900" y="809625"/>
            <a:ext cx="10915650" cy="52283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442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16202B"/>
                </a:solidFill>
                <a:latin typeface="Noto Serif CJK SC"/>
                <a:ea typeface="Noto Serif CJK SC"/>
              </a:rPr>
              <a:t>16｜公共内容：已确认、共有与未知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1456283"/>
            <a:ext cx="11087100" cy="42088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P｜明确分开三个层次：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" y="1943844"/>
            <a:ext cx="10991850" cy="42088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• </a:t>
            </a: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已知公共 C：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具体区域与可定位的 C@版本匹配，并有可复核的内容证据。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" y="2374255"/>
            <a:ext cx="10991850" cy="42088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• </a:t>
            </a: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候选共有：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A、B 都包含近似内容，但未找到足够的 C 证据；只能降低其区分 A/B 的能力。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2804666"/>
            <a:ext cx="10991850" cy="42088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• </a:t>
            </a: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通用／低信息：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格式模板、标准接口和惯用表达；可降权，不据此创造一个虚构 C。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2450" y="3311276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出现频率只用于特异性估计；先对镜像、版本和家族去重，避免把同一家族大量副本当作公共性的证明。源库中只出现一次也不等于作者独有。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2450" y="4133998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公共片段保留在报告中；其“解释内容”的作用与“区分 A/B”的作用分开。如果 C 上有 A 特有的修改，继续定位这部分差异。确认公共内容仍不等于确认实际获取路径。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450" y="428625"/>
            <a:ext cx="11087100" cy="2762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D95D39"/>
                </a:solidFill>
                <a:latin typeface="Noto Sans CJK SC"/>
                <a:ea typeface="Noto Sans CJK SC"/>
              </a:rPr>
              <a:t>SKILL PROVENANCE / V1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7278" y="428625"/>
            <a:ext cx="1502271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6B7686"/>
                </a:solidFill>
                <a:latin typeface="Noto Sans CJK SC"/>
                <a:ea typeface="Noto Sans CJK SC"/>
              </a:rPr>
              <a:t>研究方案 · 2026.10.30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2450" y="6343650"/>
            <a:ext cx="11087100" cy="3905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B7686"/>
                </a:solidFill>
                <a:latin typeface="Noto Sans CJK SC"/>
                <a:ea typeface="Noto Sans CJK SC"/>
              </a:rPr>
              <a:t>多来源部分归因 · 证据可复核，结论有边界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27296" y="6467475"/>
            <a:ext cx="412253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0F4C5C"/>
                </a:solidFill>
                <a:latin typeface="Noto Sans CJK SC"/>
                <a:ea typeface="Noto Sans CJK SC"/>
              </a:rPr>
              <a:t>17 / 35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52450" y="6334125"/>
            <a:ext cx="11087100" cy="9525"/>
          </a:xfrm>
          <a:prstGeom prst="rect">
            <a:avLst/>
          </a:prstGeom>
          <a:solidFill>
            <a:srgbClr val="E3D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2450" y="809625"/>
            <a:ext cx="57150" cy="437108"/>
          </a:xfrm>
          <a:prstGeom prst="rect">
            <a:avLst/>
          </a:prstGeom>
          <a:solidFill>
            <a:srgbClr val="D95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900" y="809625"/>
            <a:ext cx="10915650" cy="52283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442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16202B"/>
                </a:solidFill>
                <a:latin typeface="Noto Serif CJK SC"/>
                <a:ea typeface="Noto Serif CJK SC"/>
              </a:rPr>
              <a:t>17｜联合解释的最小形式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1456283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P｜这是研究设计，不是现有论文算法或已验证模型。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 对区域 i 的候选来源 s 计算局部支持 Uᵢ(s)，包括适用轨迹、对齐覆盖和经过共有证据处理后的特异性。已核实公共区域可先单独输出。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52450" y="2279005"/>
            <a:ext cx="11087100" cy="878383"/>
          </a:xfrm>
          <a:prstGeom prst="rect">
            <a:avLst/>
          </a:prstGeom>
          <a:solidFill>
            <a:srgbClr val="FFFFFF"/>
          </a:solidFill>
          <a:ln w="7620">
            <a:solidFill>
              <a:srgbClr val="E3DD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52450" y="2279005"/>
            <a:ext cx="38100" cy="878383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1405"/>
            <a:ext cx="10668000" cy="659308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033"/>
              </a:lnSpc>
              <a:spcBef>
                <a:spcPts val="0"/>
              </a:spcBef>
              <a:spcAft>
                <a:spcPts val="0"/>
              </a:spcAft>
            </a:pPr>
            <a:r>
              <a:rPr sz="1402" b="0">
                <a:solidFill>
                  <a:srgbClr val="0F4C5C"/>
                </a:solidFill>
                <a:latin typeface="Noto Sans Mono CJK SC"/>
                <a:ea typeface="Noto Sans Mono CJK SC"/>
              </a:rPr>
              <a:t>Score(z) = Σᵢ Uᵢ(zᵢ) + λ Σ(i,j) Vᵢⱼ(zᵢ,zⱼ)</a:t>
            </a:r>
            <a:br/>
            <a:r>
              <a:rPr sz="1402" b="0">
                <a:solidFill>
                  <a:srgbClr val="0F4C5C"/>
                </a:solidFill>
                <a:latin typeface="Noto Sans Mono CJK SC"/>
                <a:ea typeface="Noto Sans Mono CJK SC"/>
              </a:rPr>
              <a:t>zᵢ ∈ 候选来源集合 ∪ {UNKNOWN}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2450" y="3328838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V 检查两处匹配是否保留有依据的引用／调用／资源关系。</a:t>
            </a: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奖励对应关系成立，不简单奖励邻接区域同源。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 跨源组合可以是正确结果；来源转换次数不是默认惩罚项。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2450" y="4151560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共享 token、共享图边按唯一证据单元去重；证据不适用或边缺失不赋负分。只有充分观察到且确实矛盾的关系才可形成惩罚。UNKNOWN 的基准及 λ 在开发集选择，公开配置和搜索范围。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450" y="428625"/>
            <a:ext cx="11087100" cy="2762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D95D39"/>
                </a:solidFill>
                <a:latin typeface="Noto Sans CJK SC"/>
                <a:ea typeface="Noto Sans CJK SC"/>
              </a:rPr>
              <a:t>SKILL PROVENANCE / V1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7278" y="428625"/>
            <a:ext cx="1502271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6B7686"/>
                </a:solidFill>
                <a:latin typeface="Noto Sans CJK SC"/>
                <a:ea typeface="Noto Sans CJK SC"/>
              </a:rPr>
              <a:t>研究方案 · 2026.10.30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2450" y="6343650"/>
            <a:ext cx="11087100" cy="3905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B7686"/>
                </a:solidFill>
                <a:latin typeface="Noto Sans CJK SC"/>
                <a:ea typeface="Noto Sans CJK SC"/>
              </a:rPr>
              <a:t>多来源部分归因 · 证据可复核，结论有边界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27296" y="6467475"/>
            <a:ext cx="412253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0F4C5C"/>
                </a:solidFill>
                <a:latin typeface="Noto Sans CJK SC"/>
                <a:ea typeface="Noto Sans CJK SC"/>
              </a:rPr>
              <a:t>18 / 35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52450" y="6334125"/>
            <a:ext cx="11087100" cy="9525"/>
          </a:xfrm>
          <a:prstGeom prst="rect">
            <a:avLst/>
          </a:prstGeom>
          <a:solidFill>
            <a:srgbClr val="E3D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2450" y="809625"/>
            <a:ext cx="57150" cy="437108"/>
          </a:xfrm>
          <a:prstGeom prst="rect">
            <a:avLst/>
          </a:prstGeom>
          <a:solidFill>
            <a:srgbClr val="D95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900" y="809625"/>
            <a:ext cx="10915650" cy="52283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442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16202B"/>
                </a:solidFill>
                <a:latin typeface="Noto Serif CJK SC"/>
                <a:ea typeface="Noto Serif CJK SC"/>
              </a:rPr>
              <a:t>18｜推断与决策：避免强制唯一标签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1456283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P｜可执行的第一版：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每区域保留有依据的 top-k 候选；每个连通小图用整数优化求最优解释。为检查区域 i 的候选 s，可固定 </a:t>
            </a:r>
            <a:r>
              <a:rPr sz="1485" b="0">
                <a:solidFill>
                  <a:srgbClr val="0F4C5C"/>
                </a:solidFill>
                <a:latin typeface="Noto Sans Mono CJK SC"/>
                <a:ea typeface="Noto Sans Mono CJK SC"/>
              </a:rPr>
              <a:t>zᵢ=s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 重求最优，得到该候选的约束最优分 Hᵢ(s)。较大图采用有界搜索并报告近似误差／超时。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" y="2279005"/>
            <a:ext cx="10991850" cy="42088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• 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最佳来源的局部支持足够，且相对竞争解释有开发集校准后的优势：单一支持。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" y="2709416"/>
            <a:ext cx="10991850" cy="42088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• 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多个来源的 Hᵢ(s) 接近且各有支持：歧义集合；必要时记录未知仍可能存在。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3139826"/>
            <a:ext cx="10991850" cy="42088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• 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所有来源支持不足：UNKNOWN。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" y="3570237"/>
            <a:ext cx="10991850" cy="42088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• 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不同子区域有明确不同来源：父区域汇总为多源混合。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2450" y="4076848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分数不是概率。图规模、边密度和候选数量会影响差距，须归一化并做敏感性分析。小样本先用规则／线性特征，避免高容量模型掩盖证据不足。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450" y="428625"/>
            <a:ext cx="11087100" cy="2762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D95D39"/>
                </a:solidFill>
                <a:latin typeface="Noto Sans CJK SC"/>
                <a:ea typeface="Noto Sans CJK SC"/>
              </a:rPr>
              <a:t>SKILL PROVENANCE / V1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7278" y="428625"/>
            <a:ext cx="1502271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6B7686"/>
                </a:solidFill>
                <a:latin typeface="Noto Sans CJK SC"/>
                <a:ea typeface="Noto Sans CJK SC"/>
              </a:rPr>
              <a:t>研究方案 · 2026.10.30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2450" y="6343650"/>
            <a:ext cx="11087100" cy="3905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B7686"/>
                </a:solidFill>
                <a:latin typeface="Noto Sans CJK SC"/>
                <a:ea typeface="Noto Sans CJK SC"/>
              </a:rPr>
              <a:t>多来源部分归因 · 证据可复核，结论有边界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27296" y="6467475"/>
            <a:ext cx="412253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0F4C5C"/>
                </a:solidFill>
                <a:latin typeface="Noto Sans CJK SC"/>
                <a:ea typeface="Noto Sans CJK SC"/>
              </a:rPr>
              <a:t>19 / 35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52450" y="6334125"/>
            <a:ext cx="11087100" cy="9525"/>
          </a:xfrm>
          <a:prstGeom prst="rect">
            <a:avLst/>
          </a:prstGeom>
          <a:solidFill>
            <a:srgbClr val="E3D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2450" y="809625"/>
            <a:ext cx="57150" cy="437108"/>
          </a:xfrm>
          <a:prstGeom prst="rect">
            <a:avLst/>
          </a:prstGeom>
          <a:solidFill>
            <a:srgbClr val="D95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900" y="809625"/>
            <a:ext cx="10915650" cy="52283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442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16202B"/>
                </a:solidFill>
                <a:latin typeface="Noto Serif CJK SC"/>
                <a:ea typeface="Noto Serif CJK SC"/>
              </a:rPr>
              <a:t>19｜LLM 核查与直接来源方向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1456283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P｜LLM 输入：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目标与候选的具体片段、公共 C 的实际内容、版本记录、提取到的关系及反例。不得提供制作日志和隐藏真值。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2450" y="2279005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允许任务：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核对改写是否保留特殊规则；检查公共 C 是否解释共有区域；验证操作边是否有文件依据。输出包括支持位置、反证、缺口及可弃权的判断。不得凭模型记忆捏造上游 URL。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2450" y="3101726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LLM 的理由是已有证据的解释，不能作为新的独立证据再次计分。缓存模型、提示、输入哈希和输出；用固定疑难集对比无 LLM、规则复核和 LLM 复核。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" y="3924448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方向信息另列 </a:t>
            </a:r>
            <a:r>
              <a:rPr sz="1485" b="0">
                <a:solidFill>
                  <a:srgbClr val="0F4C5C"/>
                </a:solidFill>
                <a:latin typeface="Noto Sans Mono CJK SC"/>
                <a:ea typeface="Noto Sans Mono CJK SC"/>
              </a:rPr>
              <a:t>direction_status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：仅有对称相似时为未确定；时间、fork、引用声明可补充支持，但较早出现不保证最初原创，声明也可能失实。未经核对不输出“B 抄 A”。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2450" y="428625"/>
            <a:ext cx="11087100" cy="2762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D95D39"/>
                </a:solidFill>
                <a:latin typeface="Noto Sans CJK SC"/>
                <a:ea typeface="Noto Sans CJK SC"/>
              </a:rPr>
              <a:t>SKILL PROVENANCE / V1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37278" y="428625"/>
            <a:ext cx="1502271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6B7686"/>
                </a:solidFill>
                <a:latin typeface="Noto Sans CJK SC"/>
                <a:ea typeface="Noto Sans CJK SC"/>
              </a:rPr>
              <a:t>研究方案 · 2026.10.30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450" y="6343650"/>
            <a:ext cx="11087100" cy="3905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B7686"/>
                </a:solidFill>
                <a:latin typeface="Noto Sans CJK SC"/>
                <a:ea typeface="Noto Sans CJK SC"/>
              </a:rPr>
              <a:t>多来源部分归因 · 证据可复核，结论有边界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27296" y="6467475"/>
            <a:ext cx="412253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0F4C5C"/>
                </a:solidFill>
                <a:latin typeface="Noto Sans CJK SC"/>
                <a:ea typeface="Noto Sans CJK SC"/>
              </a:rPr>
              <a:t>20 / 35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52450" y="6334125"/>
            <a:ext cx="11087100" cy="9525"/>
          </a:xfrm>
          <a:prstGeom prst="rect">
            <a:avLst/>
          </a:prstGeom>
          <a:solidFill>
            <a:srgbClr val="E3D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2450" y="809625"/>
            <a:ext cx="57150" cy="437108"/>
          </a:xfrm>
          <a:prstGeom prst="rect">
            <a:avLst/>
          </a:prstGeom>
          <a:solidFill>
            <a:srgbClr val="D95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900" y="809625"/>
            <a:ext cx="10915650" cy="52283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442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16202B"/>
                </a:solidFill>
                <a:latin typeface="Noto Serif CJK SC"/>
                <a:ea typeface="Noto Serif CJK SC"/>
              </a:rPr>
              <a:t>20｜贯穿示例：如何给出多源结果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1456283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P｜示意例，不是实测。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 A 和 B 均使用公共字段模板 C；A 有一套特殊冲突处理 a，B 有另一套输出格式 b。X 包含 C、a 的改写、b 的改写以及新写区域 n。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2450" y="5433268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X 的父级可汇总为多来源混合，但上述公共、歧义与未知区域分别保留。若删除 A，系统应倾向未知或保守歧义，而非把 a 强行归给 B。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2450" y="428625"/>
            <a:ext cx="11087100" cy="2762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D95D39"/>
                </a:solidFill>
                <a:latin typeface="Noto Sans CJK SC"/>
                <a:ea typeface="Noto Sans CJK SC"/>
              </a:rPr>
              <a:t>SKILL PROVENANCE / V1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37278" y="428625"/>
            <a:ext cx="1502271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6B7686"/>
                </a:solidFill>
                <a:latin typeface="Noto Sans CJK SC"/>
                <a:ea typeface="Noto Sans CJK SC"/>
              </a:rPr>
              <a:t>研究方案 · 2026.10.30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2450" y="6343650"/>
            <a:ext cx="11087100" cy="3905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B7686"/>
                </a:solidFill>
                <a:latin typeface="Noto Sans CJK SC"/>
                <a:ea typeface="Noto Sans CJK SC"/>
              </a:rPr>
              <a:t>多来源部分归因 · 证据可复核，结论有边界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27296" y="6467475"/>
            <a:ext cx="412253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0F4C5C"/>
                </a:solidFill>
                <a:latin typeface="Noto Sans CJK SC"/>
                <a:ea typeface="Noto Sans CJK SC"/>
              </a:rPr>
              <a:t>21 / 35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52450" y="2279005"/>
          <a:ext cx="11087099" cy="2978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9757"/>
                <a:gridCol w="3994100"/>
                <a:gridCol w="4033242"/>
              </a:tblGrid>
              <a:tr h="489198"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X 区域</a:t>
                      </a:r>
                    </a:p>
                  </a:txBody>
                  <a:tcPr marL="133350" marR="133350" marT="104775" marB="95250">
                    <a:solidFill>
                      <a:srgbClr val="0F4C5C"/>
                    </a:solidFill>
                    <a:lnL w="0">
                      <a:solidFill>
                        <a:srgbClr val="0F4C5C"/>
                      </a:solidFill>
                    </a:lnL>
                    <a:lnR w="0">
                      <a:solidFill>
                        <a:srgbClr val="0F4C5C"/>
                      </a:solidFill>
                    </a:lnR>
                    <a:lnT w="0">
                      <a:solidFill>
                        <a:srgbClr val="0F4C5C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可见证据</a:t>
                      </a:r>
                    </a:p>
                  </a:txBody>
                  <a:tcPr marL="133350" marR="133350" marT="104775" marB="95250">
                    <a:solidFill>
                      <a:srgbClr val="0F4C5C"/>
                    </a:solidFill>
                    <a:lnL w="0">
                      <a:solidFill>
                        <a:srgbClr val="0F4C5C"/>
                      </a:solidFill>
                    </a:lnL>
                    <a:lnR w="0">
                      <a:solidFill>
                        <a:srgbClr val="0F4C5C"/>
                      </a:solidFill>
                    </a:lnR>
                    <a:lnT w="0">
                      <a:solidFill>
                        <a:srgbClr val="0F4C5C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输出</a:t>
                      </a:r>
                    </a:p>
                  </a:txBody>
                  <a:tcPr marL="133350" marR="133350" marT="104775" marB="95250">
                    <a:solidFill>
                      <a:srgbClr val="0F4C5C"/>
                    </a:solidFill>
                    <a:lnL w="0">
                      <a:solidFill>
                        <a:srgbClr val="0F4C5C"/>
                      </a:solidFill>
                    </a:lnL>
                    <a:lnR w="0">
                      <a:solidFill>
                        <a:srgbClr val="0F4C5C"/>
                      </a:solidFill>
                    </a:lnR>
                    <a:lnT w="0">
                      <a:solidFill>
                        <a:srgbClr val="0F4C5C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  <a:tr h="493960"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0F4C5C"/>
                          </a:solidFill>
                          <a:latin typeface="Noto Sans CJK SC"/>
                          <a:ea typeface="Noto Sans CJK SC"/>
                        </a:rPr>
                        <a:t>字段模板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与 C@v1 对齐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已知公共内容 C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  <a:tr h="498723"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0F4C5C"/>
                          </a:solidFill>
                          <a:latin typeface="Noto Sans CJK SC"/>
                          <a:ea typeface="Noto Sans CJK SC"/>
                        </a:rPr>
                        <a:t>冲突处理</a:t>
                      </a:r>
                    </a:p>
                  </a:txBody>
                  <a:tcPr marL="133350" marR="133350" marT="104775" marB="95250">
                    <a:solidFill>
                      <a:srgbClr val="F8F5EE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A 的特殊分支及调用对应</a:t>
                      </a:r>
                    </a:p>
                  </a:txBody>
                  <a:tcPr marL="133350" marR="133350" marT="104775" marB="95250">
                    <a:solidFill>
                      <a:srgbClr val="F8F5EE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单一来源支持 A</a:t>
                      </a:r>
                    </a:p>
                  </a:txBody>
                  <a:tcPr marL="133350" marR="133350" marT="104775" marB="95250">
                    <a:solidFill>
                      <a:srgbClr val="F8F5EE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  <a:tr h="498723"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0F4C5C"/>
                          </a:solidFill>
                          <a:latin typeface="Noto Sans CJK SC"/>
                          <a:ea typeface="Noto Sans CJK SC"/>
                        </a:rPr>
                        <a:t>输出格式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B 的特异格式与示例一致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单一来源支持 B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  <a:tr h="498723"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0F4C5C"/>
                          </a:solidFill>
                          <a:latin typeface="Noto Sans CJK SC"/>
                          <a:ea typeface="Noto Sans CJK SC"/>
                        </a:rPr>
                        <a:t>新写区域 n</a:t>
                      </a:r>
                    </a:p>
                  </a:txBody>
                  <a:tcPr marL="133350" marR="133350" marT="104775" marB="95250">
                    <a:solidFill>
                      <a:srgbClr val="F8F5EE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无可靠匹配</a:t>
                      </a:r>
                    </a:p>
                  </a:txBody>
                  <a:tcPr marL="133350" marR="133350" marT="104775" marB="95250">
                    <a:solidFill>
                      <a:srgbClr val="F8F5EE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未知；不声称已证明新写</a:t>
                      </a:r>
                    </a:p>
                  </a:txBody>
                  <a:tcPr marL="133350" marR="133350" marT="104775" marB="95250">
                    <a:solidFill>
                      <a:srgbClr val="F8F5EE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  <a:tr h="498723"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0F4C5C"/>
                          </a:solidFill>
                          <a:latin typeface="Noto Sans CJK SC"/>
                          <a:ea typeface="Noto Sans CJK SC"/>
                        </a:rPr>
                        <a:t>另一个仅共有片段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同时匹配 A/B，未取得 C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歧义 {A,B}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52450" y="6334125"/>
            <a:ext cx="11087100" cy="9525"/>
          </a:xfrm>
          <a:prstGeom prst="rect">
            <a:avLst/>
          </a:prstGeom>
          <a:solidFill>
            <a:srgbClr val="E3D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2450" y="809625"/>
            <a:ext cx="57150" cy="437108"/>
          </a:xfrm>
          <a:prstGeom prst="rect">
            <a:avLst/>
          </a:prstGeom>
          <a:solidFill>
            <a:srgbClr val="D95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900" y="809625"/>
            <a:ext cx="10915650" cy="52283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442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16202B"/>
                </a:solidFill>
                <a:latin typeface="Noto Serif CJK SC"/>
                <a:ea typeface="Noto Serif CJK SC"/>
              </a:rPr>
              <a:t>21｜基准构造与真值隔离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1456283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P｜首轮任务族：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沿用既有规划的文献元数据整理；先冻结标题／DOI 规范化、分组与年份冲突提示规格。制作 A、独立 B 和具体公共 C，分别冻结版本，再构造共享 C 的变体，不能回写独立形成史。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2450" y="2279005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制作日志保存拷贝区间、变换、工具和时间；只进入评估端。检测端只读发布文件、候选库和允许的公开证据。独立 B 可用隔离人员或隔离生成会话，记录未接触 A；同一生成模型仍可能引入风格相关性。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2450" y="3101726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同时保存两类真值：</a:t>
            </a: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形成史真值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与</a:t>
            </a: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可见证据允许的答案集合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。后者由不看制作路径的复核者检查，允许歧义和不可判定；不能要求系统从相同观察恢复不可辨识的唯一路径。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" y="3924448"/>
            <a:ext cx="11087100" cy="42088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所有对照采用相同自动切片。真值边界只能用于评估或标明为 oracle 的上界实验。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2450" y="428625"/>
            <a:ext cx="11087100" cy="2762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D95D39"/>
                </a:solidFill>
                <a:latin typeface="Noto Sans CJK SC"/>
                <a:ea typeface="Noto Sans CJK SC"/>
              </a:rPr>
              <a:t>SKILL PROVENANCE / V1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37278" y="428625"/>
            <a:ext cx="1502271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6B7686"/>
                </a:solidFill>
                <a:latin typeface="Noto Sans CJK SC"/>
                <a:ea typeface="Noto Sans CJK SC"/>
              </a:rPr>
              <a:t>研究方案 · 2026.10.30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450" y="6343650"/>
            <a:ext cx="11087100" cy="3905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B7686"/>
                </a:solidFill>
                <a:latin typeface="Noto Sans CJK SC"/>
                <a:ea typeface="Noto Sans CJK SC"/>
              </a:rPr>
              <a:t>多来源部分归因 · 证据可复核，结论有边界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27296" y="6467475"/>
            <a:ext cx="412253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0F4C5C"/>
                </a:solidFill>
                <a:latin typeface="Noto Sans CJK SC"/>
                <a:ea typeface="Noto Sans CJK SC"/>
              </a:rPr>
              <a:t>22 / 35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52450" y="6334125"/>
            <a:ext cx="11087100" cy="9525"/>
          </a:xfrm>
          <a:prstGeom prst="rect">
            <a:avLst/>
          </a:prstGeom>
          <a:solidFill>
            <a:srgbClr val="E3D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2450" y="809625"/>
            <a:ext cx="57150" cy="437108"/>
          </a:xfrm>
          <a:prstGeom prst="rect">
            <a:avLst/>
          </a:prstGeom>
          <a:solidFill>
            <a:srgbClr val="D95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900" y="809625"/>
            <a:ext cx="10915650" cy="52283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442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16202B"/>
                </a:solidFill>
                <a:latin typeface="Noto Serif CJK SC"/>
                <a:ea typeface="Noto Serif CJK SC"/>
              </a:rPr>
              <a:t>22｜实验矩阵与试点规模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5607992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P｜建议试点而非统计承诺：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先做 3 个来源组，每组覆盖上述 7 类；确认输出与流水线后扩大来源组和任务族。扩展规模按家族层面的置信区间需求确定。样本数量、失败样本和重复次数全部报告，不能以切片数量冒充独立样本量。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2450" y="428625"/>
            <a:ext cx="11087100" cy="2762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D95D39"/>
                </a:solidFill>
                <a:latin typeface="Noto Sans CJK SC"/>
                <a:ea typeface="Noto Sans CJK SC"/>
              </a:rPr>
              <a:t>SKILL PROVENANCE / V1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37278" y="428625"/>
            <a:ext cx="1502271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6B7686"/>
                </a:solidFill>
                <a:latin typeface="Noto Sans CJK SC"/>
                <a:ea typeface="Noto Sans CJK SC"/>
              </a:rPr>
              <a:t>研究方案 · 2026.10.30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" y="6343650"/>
            <a:ext cx="11087100" cy="3905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B7686"/>
                </a:solidFill>
                <a:latin typeface="Noto Sans CJK SC"/>
                <a:ea typeface="Noto Sans CJK SC"/>
              </a:rPr>
              <a:t>多来源部分归因 · 证据可复核，结论有边界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27296" y="6467475"/>
            <a:ext cx="412253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0F4C5C"/>
                </a:solidFill>
                <a:latin typeface="Noto Sans CJK SC"/>
                <a:ea typeface="Noto Sans CJK SC"/>
              </a:rPr>
              <a:t>23 / 35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52450" y="1456283"/>
          <a:ext cx="11087099" cy="3975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8545"/>
                <a:gridCol w="5161657"/>
                <a:gridCol w="3276897"/>
              </a:tblGrid>
              <a:tr h="489198"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场景</a:t>
                      </a:r>
                    </a:p>
                  </a:txBody>
                  <a:tcPr marL="133350" marR="133350" marT="104775" marB="95250">
                    <a:solidFill>
                      <a:srgbClr val="0F4C5C"/>
                    </a:solidFill>
                    <a:lnL w="0">
                      <a:solidFill>
                        <a:srgbClr val="0F4C5C"/>
                      </a:solidFill>
                    </a:lnL>
                    <a:lnR w="0">
                      <a:solidFill>
                        <a:srgbClr val="0F4C5C"/>
                      </a:solidFill>
                    </a:lnR>
                    <a:lnT w="0">
                      <a:solidFill>
                        <a:srgbClr val="0F4C5C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变换／条件</a:t>
                      </a:r>
                    </a:p>
                  </a:txBody>
                  <a:tcPr marL="133350" marR="133350" marT="104775" marB="95250">
                    <a:solidFill>
                      <a:srgbClr val="0F4C5C"/>
                    </a:solidFill>
                    <a:lnL w="0">
                      <a:solidFill>
                        <a:srgbClr val="0F4C5C"/>
                      </a:solidFill>
                    </a:lnL>
                    <a:lnR w="0">
                      <a:solidFill>
                        <a:srgbClr val="0F4C5C"/>
                      </a:solidFill>
                    </a:lnR>
                    <a:lnT w="0">
                      <a:solidFill>
                        <a:srgbClr val="0F4C5C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主要考察</a:t>
                      </a:r>
                    </a:p>
                  </a:txBody>
                  <a:tcPr marL="133350" marR="133350" marT="104775" marB="95250">
                    <a:solidFill>
                      <a:srgbClr val="0F4C5C"/>
                    </a:solidFill>
                    <a:lnL w="0">
                      <a:solidFill>
                        <a:srgbClr val="0F4C5C"/>
                      </a:solidFill>
                    </a:lnL>
                    <a:lnR w="0">
                      <a:solidFill>
                        <a:srgbClr val="0F4C5C"/>
                      </a:solidFill>
                    </a:lnR>
                    <a:lnT w="0">
                      <a:solidFill>
                        <a:srgbClr val="0F4C5C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  <a:tr h="493960"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0F4C5C"/>
                          </a:solidFill>
                          <a:latin typeface="Noto Sans CJK SC"/>
                          <a:ea typeface="Noto Sans CJK SC"/>
                        </a:rPr>
                        <a:t>单源局部复用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改名、重排、改写、添加无关内容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检索与定位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  <a:tr h="498723"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0F4C5C"/>
                          </a:solidFill>
                          <a:latin typeface="Noto Sans CJK SC"/>
                          <a:ea typeface="Noto Sans CJK SC"/>
                        </a:rPr>
                        <a:t>跨组件混合</a:t>
                      </a:r>
                    </a:p>
                  </a:txBody>
                  <a:tcPr marL="133350" marR="133350" marT="104775" marB="95250">
                    <a:solidFill>
                      <a:srgbClr val="F8F5EE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文档 A＋脚本 B</a:t>
                      </a:r>
                    </a:p>
                  </a:txBody>
                  <a:tcPr marL="133350" marR="133350" marT="104775" marB="95250">
                    <a:solidFill>
                      <a:srgbClr val="F8F5EE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多源汇总</a:t>
                      </a:r>
                    </a:p>
                  </a:txBody>
                  <a:tcPr marL="133350" marR="133350" marT="104775" marB="95250">
                    <a:solidFill>
                      <a:srgbClr val="F8F5EE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  <a:tr h="498723"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0F4C5C"/>
                          </a:solidFill>
                          <a:latin typeface="Noto Sans CJK SC"/>
                          <a:ea typeface="Noto Sans CJK SC"/>
                        </a:rPr>
                        <a:t>同函数混合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函数内 A/B 片段拼接与重构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细粒度定位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  <a:tr h="498723"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0F4C5C"/>
                          </a:solidFill>
                          <a:latin typeface="Noto Sans CJK SC"/>
                          <a:ea typeface="Noto Sans CJK SC"/>
                        </a:rPr>
                        <a:t>公共上游</a:t>
                      </a:r>
                    </a:p>
                  </a:txBody>
                  <a:tcPr marL="133350" marR="133350" marT="104775" marB="95250">
                    <a:solidFill>
                      <a:srgbClr val="F8F5EE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A/B 均含 C，X 仅留 C</a:t>
                      </a:r>
                    </a:p>
                  </a:txBody>
                  <a:tcPr marL="133350" marR="133350" marT="104775" marB="95250">
                    <a:solidFill>
                      <a:srgbClr val="F8F5EE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错误唯一归因</a:t>
                      </a:r>
                    </a:p>
                  </a:txBody>
                  <a:tcPr marL="133350" marR="133350" marT="104775" marB="95250">
                    <a:solidFill>
                      <a:srgbClr val="F8F5EE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  <a:tr h="498723"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0F4C5C"/>
                          </a:solidFill>
                          <a:latin typeface="Noto Sans CJK SC"/>
                          <a:ea typeface="Noto Sans CJK SC"/>
                        </a:rPr>
                        <a:t>公共＋特异修改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C＋a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公共和特异证据分离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  <a:tr h="498723"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0F4C5C"/>
                          </a:solidFill>
                          <a:latin typeface="Noto Sans CJK SC"/>
                          <a:ea typeface="Noto Sans CJK SC"/>
                        </a:rPr>
                        <a:t>同功能独立</a:t>
                      </a:r>
                    </a:p>
                  </a:txBody>
                  <a:tcPr marL="133350" marR="133350" marT="104775" marB="95250">
                    <a:solidFill>
                      <a:srgbClr val="F8F5EE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公开规格相同，形成过程独立</a:t>
                      </a:r>
                    </a:p>
                  </a:txBody>
                  <a:tcPr marL="133350" marR="133350" marT="104775" marB="95250">
                    <a:solidFill>
                      <a:srgbClr val="F8F5EE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功能相似误报</a:t>
                      </a:r>
                    </a:p>
                  </a:txBody>
                  <a:tcPr marL="133350" marR="133350" marT="104775" marB="95250">
                    <a:solidFill>
                      <a:srgbClr val="F8F5EE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  <a:tr h="498723"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0F4C5C"/>
                          </a:solidFill>
                          <a:latin typeface="Noto Sans CJK SC"/>
                          <a:ea typeface="Noto Sans CJK SC"/>
                        </a:rPr>
                        <a:t>来源缺失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删除 A；另测删除 C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开放集与共有解释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52450" y="6334125"/>
            <a:ext cx="11087100" cy="9525"/>
          </a:xfrm>
          <a:prstGeom prst="rect">
            <a:avLst/>
          </a:prstGeom>
          <a:solidFill>
            <a:srgbClr val="E3D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2450" y="809625"/>
            <a:ext cx="57150" cy="437108"/>
          </a:xfrm>
          <a:prstGeom prst="rect">
            <a:avLst/>
          </a:prstGeom>
          <a:solidFill>
            <a:srgbClr val="D95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900" y="809625"/>
            <a:ext cx="10915650" cy="52283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442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16202B"/>
                </a:solidFill>
                <a:latin typeface="Noto Serif CJK SC"/>
                <a:ea typeface="Noto Serif CJK SC"/>
              </a:rPr>
              <a:t>23｜公平基线与消融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5404395"/>
            <a:ext cx="11087100" cy="6953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4C5C"/>
                </a:solidFill>
                <a:latin typeface="Noto Sans CJK SC"/>
                <a:ea typeface="Noto Sans CJK SC"/>
              </a:rPr>
              <a:t>P｜关键约束：</a:t>
            </a:r>
            <a:r>
              <a:rPr sz="1500" b="0">
                <a:solidFill>
                  <a:srgbClr val="3D4A5C"/>
                </a:solidFill>
                <a:latin typeface="Noto Sans CJK SC"/>
                <a:ea typeface="Noto Sans CJK SC"/>
              </a:rPr>
              <a:t>B1–M 使用同样候选、切片、公开信息和计算预算；B4 防止把“多拿到了结构信息”误写成联合收益。另做 oracle 候选、oracle 切片、去公共模块、去关系、去 LLM 消融，分别定位收益来源。保留可用的 SkillReuse 直接对照，并注明适配差异。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2450" y="428625"/>
            <a:ext cx="11087100" cy="2762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D95D39"/>
                </a:solidFill>
                <a:latin typeface="Noto Sans CJK SC"/>
                <a:ea typeface="Noto Sans CJK SC"/>
              </a:rPr>
              <a:t>SKILL PROVENANCE / V1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37278" y="428625"/>
            <a:ext cx="1502271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6B7686"/>
                </a:solidFill>
                <a:latin typeface="Noto Sans CJK SC"/>
                <a:ea typeface="Noto Sans CJK SC"/>
              </a:rPr>
              <a:t>研究方案 · 2026.10.30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" y="6343650"/>
            <a:ext cx="11087100" cy="3905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B7686"/>
                </a:solidFill>
                <a:latin typeface="Noto Sans CJK SC"/>
                <a:ea typeface="Noto Sans CJK SC"/>
              </a:rPr>
              <a:t>多来源部分归因 · 证据可复核，结论有边界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27296" y="6467475"/>
            <a:ext cx="412253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0F4C5C"/>
                </a:solidFill>
                <a:latin typeface="Noto Sans CJK SC"/>
                <a:ea typeface="Noto Sans CJK SC"/>
              </a:rPr>
              <a:t>24 / 35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52450" y="1456283"/>
          <a:ext cx="11087099" cy="3771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960"/>
                <a:gridCol w="9304139"/>
              </a:tblGrid>
              <a:tr h="463748">
                <a:tc>
                  <a:txBody>
                    <a:bodyPr wrap="square" anchor="t"/>
                    <a:lstStyle/>
                    <a:p>
                      <a:pPr>
                        <a:lnSpc>
                          <a:spcPts val="20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35" b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方法</a:t>
                      </a:r>
                    </a:p>
                  </a:txBody>
                  <a:tcPr marL="133350" marR="133350" marT="104775" marB="95250">
                    <a:solidFill>
                      <a:srgbClr val="0F4C5C"/>
                    </a:solidFill>
                    <a:lnL w="0">
                      <a:solidFill>
                        <a:srgbClr val="0F4C5C"/>
                      </a:solidFill>
                    </a:lnL>
                    <a:lnR w="0">
                      <a:solidFill>
                        <a:srgbClr val="0F4C5C"/>
                      </a:solidFill>
                    </a:lnR>
                    <a:lnT w="0">
                      <a:solidFill>
                        <a:srgbClr val="0F4C5C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0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35" b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固定条件下的差异</a:t>
                      </a:r>
                    </a:p>
                  </a:txBody>
                  <a:tcPr marL="133350" marR="133350" marT="104775" marB="95250">
                    <a:solidFill>
                      <a:srgbClr val="0F4C5C"/>
                    </a:solidFill>
                    <a:lnL w="0">
                      <a:solidFill>
                        <a:srgbClr val="0F4C5C"/>
                      </a:solidFill>
                    </a:lnL>
                    <a:lnR w="0">
                      <a:solidFill>
                        <a:srgbClr val="0F4C5C"/>
                      </a:solidFill>
                    </a:lnR>
                    <a:lnT w="0">
                      <a:solidFill>
                        <a:srgbClr val="0F4C5C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  <a:tr h="468510">
                <a:tc>
                  <a:txBody>
                    <a:bodyPr wrap="square" anchor="t"/>
                    <a:lstStyle/>
                    <a:p>
                      <a:pPr>
                        <a:lnSpc>
                          <a:spcPts val="20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35" b="0">
                          <a:solidFill>
                            <a:srgbClr val="0F4C5C"/>
                          </a:solidFill>
                          <a:latin typeface="Noto Sans CJK SC"/>
                          <a:ea typeface="Noto Sans CJK SC"/>
                        </a:rPr>
                        <a:t>B0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0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35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整包／组件指纹近邻，作为粗粒度起点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  <a:tr h="473273">
                <a:tc>
                  <a:txBody>
                    <a:bodyPr wrap="square" anchor="t"/>
                    <a:lstStyle/>
                    <a:p>
                      <a:pPr>
                        <a:lnSpc>
                          <a:spcPts val="20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35" b="0">
                          <a:solidFill>
                            <a:srgbClr val="0F4C5C"/>
                          </a:solidFill>
                          <a:latin typeface="Noto Sans CJK SC"/>
                          <a:ea typeface="Noto Sans CJK SC"/>
                        </a:rPr>
                        <a:t>B1</a:t>
                      </a:r>
                    </a:p>
                  </a:txBody>
                  <a:tcPr marL="133350" marR="133350" marT="104775" marB="95250">
                    <a:solidFill>
                      <a:srgbClr val="F8F5EE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0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35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相同区域、相同候选的成对 E/I/O＋最高支持汇总</a:t>
                      </a:r>
                    </a:p>
                  </a:txBody>
                  <a:tcPr marL="133350" marR="133350" marT="104775" marB="95250">
                    <a:solidFill>
                      <a:srgbClr val="F8F5EE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  <a:tr h="473273">
                <a:tc>
                  <a:txBody>
                    <a:bodyPr wrap="square" anchor="t"/>
                    <a:lstStyle/>
                    <a:p>
                      <a:pPr>
                        <a:lnSpc>
                          <a:spcPts val="20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35" b="0">
                          <a:solidFill>
                            <a:srgbClr val="0F4C5C"/>
                          </a:solidFill>
                          <a:latin typeface="Noto Sans CJK SC"/>
                          <a:ea typeface="Noto Sans CJK SC"/>
                        </a:rPr>
                        <a:t>B2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0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35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B1＋公共／共有证据处理＋相同未知和歧义决策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  <a:tr h="473273">
                <a:tc>
                  <a:txBody>
                    <a:bodyPr wrap="square" anchor="t"/>
                    <a:lstStyle/>
                    <a:p>
                      <a:pPr>
                        <a:lnSpc>
                          <a:spcPts val="20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35" b="0">
                          <a:solidFill>
                            <a:srgbClr val="0F4C5C"/>
                          </a:solidFill>
                          <a:latin typeface="Noto Sans CJK SC"/>
                          <a:ea typeface="Noto Sans CJK SC"/>
                        </a:rPr>
                        <a:t>B3</a:t>
                      </a:r>
                    </a:p>
                  </a:txBody>
                  <a:tcPr marL="133350" marR="133350" marT="104775" marB="95250">
                    <a:solidFill>
                      <a:srgbClr val="F8F5EE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0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35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普通加权覆盖：累计未重复解释的局部证据，不使用关系项</a:t>
                      </a:r>
                    </a:p>
                  </a:txBody>
                  <a:tcPr marL="133350" marR="133350" marT="104775" marB="95250">
                    <a:solidFill>
                      <a:srgbClr val="F8F5EE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  <a:tr h="473273">
                <a:tc>
                  <a:txBody>
                    <a:bodyPr wrap="square" anchor="t"/>
                    <a:lstStyle/>
                    <a:p>
                      <a:pPr>
                        <a:lnSpc>
                          <a:spcPts val="20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35" b="0">
                          <a:solidFill>
                            <a:srgbClr val="0F4C5C"/>
                          </a:solidFill>
                          <a:latin typeface="Noto Sans CJK SC"/>
                          <a:ea typeface="Noto Sans CJK SC"/>
                        </a:rPr>
                        <a:t>B4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0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35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关系用于各个来源—目标的独立匹配，再做相同汇总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  <a:tr h="473273">
                <a:tc>
                  <a:txBody>
                    <a:bodyPr wrap="square" anchor="t"/>
                    <a:lstStyle/>
                    <a:p>
                      <a:pPr>
                        <a:lnSpc>
                          <a:spcPts val="20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35" b="0">
                          <a:solidFill>
                            <a:srgbClr val="0F4C5C"/>
                          </a:solidFill>
                          <a:latin typeface="Noto Sans CJK SC"/>
                          <a:ea typeface="Noto Sans CJK SC"/>
                        </a:rPr>
                        <a:t>M</a:t>
                      </a:r>
                    </a:p>
                  </a:txBody>
                  <a:tcPr marL="133350" marR="133350" marT="104775" marB="95250">
                    <a:solidFill>
                      <a:srgbClr val="F8F5EE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0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35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相同特征与关系下，跨候选联合解释</a:t>
                      </a:r>
                    </a:p>
                  </a:txBody>
                  <a:tcPr marL="133350" marR="133350" marT="104775" marB="95250">
                    <a:solidFill>
                      <a:srgbClr val="F8F5EE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  <a:tr h="473273">
                <a:tc>
                  <a:txBody>
                    <a:bodyPr wrap="square" anchor="t"/>
                    <a:lstStyle/>
                    <a:p>
                      <a:pPr>
                        <a:lnSpc>
                          <a:spcPts val="20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35" b="0">
                          <a:solidFill>
                            <a:srgbClr val="0F4C5C"/>
                          </a:solidFill>
                          <a:latin typeface="Noto Sans CJK SC"/>
                          <a:ea typeface="Noto Sans CJK SC"/>
                        </a:rPr>
                        <a:t>M＋LLM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0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35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固定疑难案例上的辅助复核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52450" y="6334125"/>
            <a:ext cx="11087100" cy="9525"/>
          </a:xfrm>
          <a:prstGeom prst="rect">
            <a:avLst/>
          </a:prstGeom>
          <a:solidFill>
            <a:srgbClr val="E3D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2450" y="809625"/>
            <a:ext cx="57150" cy="437108"/>
          </a:xfrm>
          <a:prstGeom prst="rect">
            <a:avLst/>
          </a:prstGeom>
          <a:solidFill>
            <a:srgbClr val="D95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900" y="809625"/>
            <a:ext cx="10915650" cy="52283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442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16202B"/>
                </a:solidFill>
                <a:latin typeface="Noto Serif CJK SC"/>
                <a:ea typeface="Noto Serif CJK SC"/>
              </a:rPr>
              <a:t>24｜评价指标与统计单位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1456283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P｜主要终点：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在同一明确判断覆盖率下，比较错误唯一归因率。明确判断包括唯一来源与已知公共内容；分别报告其错误率，另提供只针对唯一来源的风险曲线。覆盖分母是全部可评估目标单位，不排除未知区域。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52450" y="2279005"/>
            <a:ext cx="11087100" cy="878383"/>
          </a:xfrm>
          <a:prstGeom prst="rect">
            <a:avLst/>
          </a:prstGeom>
          <a:solidFill>
            <a:srgbClr val="FFFFFF"/>
          </a:solidFill>
          <a:ln w="7620">
            <a:solidFill>
              <a:srgbClr val="E3DD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52450" y="2279005"/>
            <a:ext cx="38100" cy="878383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31405"/>
            <a:ext cx="10668000" cy="659308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033"/>
              </a:lnSpc>
              <a:spcBef>
                <a:spcPts val="0"/>
              </a:spcBef>
              <a:spcAft>
                <a:spcPts val="0"/>
              </a:spcAft>
            </a:pPr>
            <a:r>
              <a:rPr sz="1402" b="0">
                <a:solidFill>
                  <a:srgbClr val="0F4C5C"/>
                </a:solidFill>
                <a:latin typeface="Noto Sans Mono CJK SC"/>
                <a:ea typeface="Noto Sans Mono CJK SC"/>
              </a:rPr>
              <a:t>Coverage = 明确判断的目标单位数 / 全部可评估目标单位数</a:t>
            </a:r>
            <a:br/>
            <a:r>
              <a:rPr sz="1402" b="0">
                <a:solidFill>
                  <a:srgbClr val="0F4C5C"/>
                </a:solidFill>
                <a:latin typeface="Noto Sans Mono CJK SC"/>
                <a:ea typeface="Noto Sans Mono CJK SC"/>
              </a:rPr>
              <a:t>Risk = 明确判断中的错误单位数 / 明确判断单位数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2450" y="3328838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对不可区分 A/B 的区域，强制唯一归因即使碰巧符合制作日志，也计入“不受证据支持的唯一断言”。这与普通真值标签错误分开列出。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2450" y="4151560"/>
            <a:ext cx="11087100" cy="1091207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补充：候选 Recall@k；来源集合 precision/recall；区域 token／字符覆盖与 IoU；公共识别误报漏报；未知检出；歧义集合命中率与平均大小；单包耗时、LLM 成本和人工复核量。跨模态先分层，再做宏平均；置信区间按来源家族重采样，不把同包区域当独立样本。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450" y="428625"/>
            <a:ext cx="11087100" cy="2762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D95D39"/>
                </a:solidFill>
                <a:latin typeface="Noto Sans CJK SC"/>
                <a:ea typeface="Noto Sans CJK SC"/>
              </a:rPr>
              <a:t>SKILL PROVENANCE / V1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7278" y="428625"/>
            <a:ext cx="1502271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6B7686"/>
                </a:solidFill>
                <a:latin typeface="Noto Sans CJK SC"/>
                <a:ea typeface="Noto Sans CJK SC"/>
              </a:rPr>
              <a:t>研究方案 · 2026.10.30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2450" y="6343650"/>
            <a:ext cx="11087100" cy="3905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B7686"/>
                </a:solidFill>
                <a:latin typeface="Noto Sans CJK SC"/>
                <a:ea typeface="Noto Sans CJK SC"/>
              </a:rPr>
              <a:t>多来源部分归因 · 证据可复核，结论有边界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27296" y="6467475"/>
            <a:ext cx="412253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0F4C5C"/>
                </a:solidFill>
                <a:latin typeface="Noto Sans CJK SC"/>
                <a:ea typeface="Noto Sans CJK SC"/>
              </a:rPr>
              <a:t>25 / 35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52450" y="6334125"/>
            <a:ext cx="11087100" cy="9525"/>
          </a:xfrm>
          <a:prstGeom prst="rect">
            <a:avLst/>
          </a:prstGeom>
          <a:solidFill>
            <a:srgbClr val="E3D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2450" y="809625"/>
            <a:ext cx="57150" cy="437108"/>
          </a:xfrm>
          <a:prstGeom prst="rect">
            <a:avLst/>
          </a:prstGeom>
          <a:solidFill>
            <a:srgbClr val="D95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900" y="809625"/>
            <a:ext cx="10915650" cy="52283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442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16202B"/>
                </a:solidFill>
                <a:latin typeface="Noto Serif CJK SC"/>
                <a:ea typeface="Noto Serif CJK SC"/>
              </a:rPr>
              <a:t>25｜数据划分、校准与稳健性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1456283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P｜防止泄漏：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按原始来源家族分组划分开发／校准／测试集；同一来源的变体不可分散。单独测试未见任务族与未见公共模板；原始规格、来源家族和公共模板的跨集合重合全部登记。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2450" y="2279005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所有阈值、k、边权和拒判规则只用开发／校准集选择。最终测试同时报告固定阈值结果和风险—覆盖率曲线；不能从测试标签选择“最好看的”工作点。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2450" y="3101726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同一 X 配对比较完整源库、删除真实 A、删除公共 C 三种条件。记录检索遗漏与源库真正缺失，避免混淆。加入镜像重复、短区域、模板比例升高、图边噪声和提取器版本变化的压力测试。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" y="3924448"/>
            <a:ext cx="11087100" cy="42088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模型生成负例只是一类控制，不替代自然独立实现。LLM 提取温度为零也不保证绝对可复现，必须缓存实际输出。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2450" y="428625"/>
            <a:ext cx="11087100" cy="2762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D95D39"/>
                </a:solidFill>
                <a:latin typeface="Noto Sans CJK SC"/>
                <a:ea typeface="Noto Sans CJK SC"/>
              </a:rPr>
              <a:t>SKILL PROVENANCE / V1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37278" y="428625"/>
            <a:ext cx="1502271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6B7686"/>
                </a:solidFill>
                <a:latin typeface="Noto Sans CJK SC"/>
                <a:ea typeface="Noto Sans CJK SC"/>
              </a:rPr>
              <a:t>研究方案 · 2026.10.30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450" y="6343650"/>
            <a:ext cx="11087100" cy="3905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B7686"/>
                </a:solidFill>
                <a:latin typeface="Noto Sans CJK SC"/>
                <a:ea typeface="Noto Sans CJK SC"/>
              </a:rPr>
              <a:t>多来源部分归因 · 证据可复核，结论有边界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27296" y="6467475"/>
            <a:ext cx="412253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0F4C5C"/>
                </a:solidFill>
                <a:latin typeface="Noto Sans CJK SC"/>
                <a:ea typeface="Noto Sans CJK SC"/>
              </a:rPr>
              <a:t>26 / 35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52450" y="6334125"/>
            <a:ext cx="11087100" cy="9525"/>
          </a:xfrm>
          <a:prstGeom prst="rect">
            <a:avLst/>
          </a:prstGeom>
          <a:solidFill>
            <a:srgbClr val="E3D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2450" y="809625"/>
            <a:ext cx="57150" cy="437108"/>
          </a:xfrm>
          <a:prstGeom prst="rect">
            <a:avLst/>
          </a:prstGeom>
          <a:solidFill>
            <a:srgbClr val="D95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900" y="809625"/>
            <a:ext cx="10915650" cy="52283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442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16202B"/>
                </a:solidFill>
                <a:latin typeface="Noto Serif CJK SC"/>
                <a:ea typeface="Noto Serif CJK SC"/>
              </a:rPr>
              <a:t>26｜复核记录的最小格式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1456283"/>
            <a:ext cx="11087100" cy="42088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P｜示例字段；不是实测记录。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52450" y="1943844"/>
            <a:ext cx="11087100" cy="3373784"/>
          </a:xfrm>
          <a:prstGeom prst="rect">
            <a:avLst/>
          </a:prstGeom>
          <a:solidFill>
            <a:srgbClr val="FFFFFF"/>
          </a:solidFill>
          <a:ln w="7620">
            <a:solidFill>
              <a:srgbClr val="E3DD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52450" y="1943844"/>
            <a:ext cx="38100" cy="3373784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096244"/>
            <a:ext cx="10668000" cy="3154709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033"/>
              </a:lnSpc>
              <a:spcBef>
                <a:spcPts val="0"/>
              </a:spcBef>
              <a:spcAft>
                <a:spcPts val="0"/>
              </a:spcAft>
            </a:pPr>
            <a:r>
              <a:rPr sz="1402" b="0">
                <a:solidFill>
                  <a:srgbClr val="0F4C5C"/>
                </a:solidFill>
                <a:latin typeface="Noto Sans Mono CJK SC"/>
                <a:ea typeface="Noto Sans Mono CJK SC"/>
              </a:rPr>
              <a:t>{</a:t>
            </a:r>
            <a:br/>
            <a:r>
              <a:rPr sz="1402" b="0">
                <a:solidFill>
                  <a:srgbClr val="0F4C5C"/>
                </a:solidFill>
                <a:latin typeface="Noto Sans Mono CJK SC"/>
                <a:ea typeface="Noto Sans Mono CJK SC"/>
              </a:rPr>
              <a:t>  "target": {"version_hash": "…", "file": "scripts/clean.py", "span": [20, 38]},</a:t>
            </a:r>
            <a:br/>
            <a:r>
              <a:rPr sz="1402" b="0">
                <a:solidFill>
                  <a:srgbClr val="0F4C5C"/>
                </a:solidFill>
                <a:latin typeface="Noto Sans Mono CJK SC"/>
                <a:ea typeface="Noto Sans Mono CJK SC"/>
              </a:rPr>
              <a:t>  "status": "ambiguous",</a:t>
            </a:r>
            <a:br/>
            <a:r>
              <a:rPr sz="1402" b="0">
                <a:solidFill>
                  <a:srgbClr val="0F4C5C"/>
                </a:solidFill>
                <a:latin typeface="Noto Sans Mono CJK SC"/>
                <a:ea typeface="Noto Sans Mono CJK SC"/>
              </a:rPr>
              <a:t>  "candidates": ["A@v1", "B@v2"],</a:t>
            </a:r>
            <a:br/>
            <a:r>
              <a:rPr sz="1402" b="0">
                <a:solidFill>
                  <a:srgbClr val="0F4C5C"/>
                </a:solidFill>
                <a:latin typeface="Noto Sans Mono CJK SC"/>
                <a:ea typeface="Noto Sans Mono CJK SC"/>
              </a:rPr>
              <a:t>  "unknown_possible": true,</a:t>
            </a:r>
            <a:br/>
            <a:r>
              <a:rPr sz="1402" b="0">
                <a:solidFill>
                  <a:srgbClr val="0F4C5C"/>
                </a:solidFill>
                <a:latin typeface="Noto Sans Mono CJK SC"/>
                <a:ea typeface="Noto Sans Mono CJK SC"/>
              </a:rPr>
              <a:t>  "public_match": null,</a:t>
            </a:r>
            <a:br/>
            <a:r>
              <a:rPr sz="1402" b="0">
                <a:solidFill>
                  <a:srgbClr val="0F4C5C"/>
                </a:solidFill>
                <a:latin typeface="Noto Sans Mono CJK SC"/>
                <a:ea typeface="Noto Sans Mono CJK SC"/>
              </a:rPr>
              <a:t>  "evidence": [{"type": "implementation", "source_span": "…", "score": 0.82}],</a:t>
            </a:r>
            <a:br/>
            <a:r>
              <a:rPr sz="1402" b="0">
                <a:solidFill>
                  <a:srgbClr val="0F4C5C"/>
                </a:solidFill>
                <a:latin typeface="Noto Sans Mono CJK SC"/>
                <a:ea typeface="Noto Sans Mono CJK SC"/>
              </a:rPr>
              <a:t>  "missing": ["公共上游内容未取得", "无方向证据"],</a:t>
            </a:r>
            <a:br/>
            <a:r>
              <a:rPr sz="1402" b="0">
                <a:solidFill>
                  <a:srgbClr val="0F4C5C"/>
                </a:solidFill>
                <a:latin typeface="Noto Sans Mono CJK SC"/>
                <a:ea typeface="Noto Sans Mono CJK SC"/>
              </a:rPr>
              <a:t>  "direction_status": "undetermined",</a:t>
            </a:r>
            <a:br/>
            <a:r>
              <a:rPr sz="1402" b="0">
                <a:solidFill>
                  <a:srgbClr val="0F4C5C"/>
                </a:solidFill>
                <a:latin typeface="Noto Sans Mono CJK SC"/>
                <a:ea typeface="Noto Sans Mono CJK SC"/>
              </a:rPr>
              <a:t>  "pipeline_version": "prototype-config-hash"</a:t>
            </a:r>
            <a:br/>
            <a:r>
              <a:rPr sz="1402" b="0">
                <a:solidFill>
                  <a:srgbClr val="0F4C5C"/>
                </a:solidFill>
                <a:latin typeface="Noto Sans Mono CJK SC"/>
                <a:ea typeface="Noto Sans Mono CJK SC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2450" y="5489078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分数示例不具有概率含义。正式记录另带源文件哈希、检索排名、归一化与切片版本、模型／提示版本、判定阈值和复核日志。采用候选集合时，保留未知可能性，不能以“集合非空”排除库外来源。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2450" y="428625"/>
            <a:ext cx="11087100" cy="2762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D95D39"/>
                </a:solidFill>
                <a:latin typeface="Noto Sans CJK SC"/>
                <a:ea typeface="Noto Sans CJK SC"/>
              </a:rPr>
              <a:t>SKILL PROVENANCE / V1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37278" y="428625"/>
            <a:ext cx="1502271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6B7686"/>
                </a:solidFill>
                <a:latin typeface="Noto Sans CJK SC"/>
                <a:ea typeface="Noto Sans CJK SC"/>
              </a:rPr>
              <a:t>研究方案 · 2026.10.30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2450" y="6343650"/>
            <a:ext cx="11087100" cy="3905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B7686"/>
                </a:solidFill>
                <a:latin typeface="Noto Sans CJK SC"/>
                <a:ea typeface="Noto Sans CJK SC"/>
              </a:rPr>
              <a:t>多来源部分归因 · 证据可复核，结论有边界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27296" y="6467475"/>
            <a:ext cx="412253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0F4C5C"/>
                </a:solidFill>
                <a:latin typeface="Noto Sans CJK SC"/>
                <a:ea typeface="Noto Sans CJK SC"/>
              </a:rPr>
              <a:t>27 / 35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52450" y="6334125"/>
            <a:ext cx="11087100" cy="9525"/>
          </a:xfrm>
          <a:prstGeom prst="rect">
            <a:avLst/>
          </a:prstGeom>
          <a:solidFill>
            <a:srgbClr val="E3D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2450" y="809625"/>
            <a:ext cx="57150" cy="437108"/>
          </a:xfrm>
          <a:prstGeom prst="rect">
            <a:avLst/>
          </a:prstGeom>
          <a:solidFill>
            <a:srgbClr val="D95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900" y="809625"/>
            <a:ext cx="10915650" cy="52283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442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16202B"/>
                </a:solidFill>
                <a:latin typeface="Noto Serif CJK SC"/>
                <a:ea typeface="Noto Serif CJK SC"/>
              </a:rPr>
              <a:t>27｜实施里程碑与退出条件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4610546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P｜退出条件：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若 B2/B4 已解释主要收益，不继续把复杂图模型包装成创新；若主要错误来自召回，先改检索；若证据不可辨识，保留歧义。若联合收益不能成立，可转向评测、可辨识性和可靠输出的研究贡献。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2450" y="428625"/>
            <a:ext cx="11087100" cy="2762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D95D39"/>
                </a:solidFill>
                <a:latin typeface="Noto Sans CJK SC"/>
                <a:ea typeface="Noto Sans CJK SC"/>
              </a:rPr>
              <a:t>SKILL PROVENANCE / V1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37278" y="428625"/>
            <a:ext cx="1502271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6B7686"/>
                </a:solidFill>
                <a:latin typeface="Noto Sans CJK SC"/>
                <a:ea typeface="Noto Sans CJK SC"/>
              </a:rPr>
              <a:t>研究方案 · 2026.10.30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" y="6343650"/>
            <a:ext cx="11087100" cy="3905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B7686"/>
                </a:solidFill>
                <a:latin typeface="Noto Sans CJK SC"/>
                <a:ea typeface="Noto Sans CJK SC"/>
              </a:rPr>
              <a:t>多来源部分归因 · 证据可复核，结论有边界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27296" y="6467475"/>
            <a:ext cx="412253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0F4C5C"/>
                </a:solidFill>
                <a:latin typeface="Noto Sans CJK SC"/>
                <a:ea typeface="Noto Sans CJK SC"/>
              </a:rPr>
              <a:t>28 / 35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52450" y="1456283"/>
          <a:ext cx="11087098" cy="2978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5271"/>
                <a:gridCol w="4998243"/>
                <a:gridCol w="3913584"/>
              </a:tblGrid>
              <a:tr h="489198"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阶段</a:t>
                      </a:r>
                    </a:p>
                  </a:txBody>
                  <a:tcPr marL="133350" marR="133350" marT="104775" marB="95250">
                    <a:solidFill>
                      <a:srgbClr val="0F4C5C"/>
                    </a:solidFill>
                    <a:lnL w="0">
                      <a:solidFill>
                        <a:srgbClr val="0F4C5C"/>
                      </a:solidFill>
                    </a:lnL>
                    <a:lnR w="0">
                      <a:solidFill>
                        <a:srgbClr val="0F4C5C"/>
                      </a:solidFill>
                    </a:lnR>
                    <a:lnT w="0">
                      <a:solidFill>
                        <a:srgbClr val="0F4C5C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交付物</a:t>
                      </a:r>
                    </a:p>
                  </a:txBody>
                  <a:tcPr marL="133350" marR="133350" marT="104775" marB="95250">
                    <a:solidFill>
                      <a:srgbClr val="0F4C5C"/>
                    </a:solidFill>
                    <a:lnL w="0">
                      <a:solidFill>
                        <a:srgbClr val="0F4C5C"/>
                      </a:solidFill>
                    </a:lnL>
                    <a:lnR w="0">
                      <a:solidFill>
                        <a:srgbClr val="0F4C5C"/>
                      </a:solidFill>
                    </a:lnR>
                    <a:lnT w="0">
                      <a:solidFill>
                        <a:srgbClr val="0F4C5C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进入下一阶段的条件</a:t>
                      </a:r>
                    </a:p>
                  </a:txBody>
                  <a:tcPr marL="133350" marR="133350" marT="104775" marB="95250">
                    <a:solidFill>
                      <a:srgbClr val="0F4C5C"/>
                    </a:solidFill>
                    <a:lnL w="0">
                      <a:solidFill>
                        <a:srgbClr val="0F4C5C"/>
                      </a:solidFill>
                    </a:lnL>
                    <a:lnR w="0">
                      <a:solidFill>
                        <a:srgbClr val="0F4C5C"/>
                      </a:solidFill>
                    </a:lnR>
                    <a:lnT w="0">
                      <a:solidFill>
                        <a:srgbClr val="0F4C5C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  <a:tr h="493960"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0F4C5C"/>
                          </a:solidFill>
                          <a:latin typeface="Noto Sans CJK SC"/>
                          <a:ea typeface="Noto Sans CJK SC"/>
                        </a:rPr>
                        <a:t>M0 任务冻结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规格、输入边界、输出语义、标注手册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能区分历史真值与可辨识答案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  <a:tr h="498723"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0F4C5C"/>
                          </a:solidFill>
                          <a:latin typeface="Noto Sans CJK SC"/>
                          <a:ea typeface="Noto Sans CJK SC"/>
                        </a:rPr>
                        <a:t>M1 最小数据</a:t>
                      </a:r>
                    </a:p>
                  </a:txBody>
                  <a:tcPr marL="133350" marR="133350" marT="104775" marB="95250">
                    <a:solidFill>
                      <a:srgbClr val="F8F5EE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A/B/C 与覆盖场景的 X、形成日志</a:t>
                      </a:r>
                    </a:p>
                  </a:txBody>
                  <a:tcPr marL="133350" marR="133350" marT="104775" marB="95250">
                    <a:solidFill>
                      <a:srgbClr val="F8F5EE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独立性和变换可复核</a:t>
                      </a:r>
                    </a:p>
                  </a:txBody>
                  <a:tcPr marL="133350" marR="133350" marT="104775" marB="95250">
                    <a:solidFill>
                      <a:srgbClr val="F8F5EE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  <a:tr h="498723"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0F4C5C"/>
                          </a:solidFill>
                          <a:latin typeface="Noto Sans CJK SC"/>
                          <a:ea typeface="Noto Sans CJK SC"/>
                        </a:rPr>
                        <a:t>M2 强基线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自动切片、候选检索、B1/B2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检索与定位错误可分解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  <a:tr h="498723"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0F4C5C"/>
                          </a:solidFill>
                          <a:latin typeface="Noto Sans CJK SC"/>
                          <a:ea typeface="Noto Sans CJK SC"/>
                        </a:rPr>
                        <a:t>M3 联合验证</a:t>
                      </a:r>
                    </a:p>
                  </a:txBody>
                  <a:tcPr marL="133350" marR="133350" marT="104775" marB="95250">
                    <a:solidFill>
                      <a:srgbClr val="F8F5EE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B3/B4/M、关系与公共处理消融</a:t>
                      </a:r>
                    </a:p>
                  </a:txBody>
                  <a:tcPr marL="133350" marR="133350" marT="104775" marB="95250">
                    <a:solidFill>
                      <a:srgbClr val="F8F5EE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同覆盖率下有稳定增量</a:t>
                      </a:r>
                    </a:p>
                  </a:txBody>
                  <a:tcPr marL="133350" marR="133350" marT="104775" marB="95250">
                    <a:solidFill>
                      <a:srgbClr val="F8F5EE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  <a:tr h="498723"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0F4C5C"/>
                          </a:solidFill>
                          <a:latin typeface="Noto Sans CJK SC"/>
                          <a:ea typeface="Noto Sans CJK SC"/>
                        </a:rPr>
                        <a:t>M4 辅助与扩展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LLM 复核、跨任务及缺源实验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收益超过成本并可复核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52450" y="6334125"/>
            <a:ext cx="11087100" cy="9525"/>
          </a:xfrm>
          <a:prstGeom prst="rect">
            <a:avLst/>
          </a:prstGeom>
          <a:solidFill>
            <a:srgbClr val="E3D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2450" y="809625"/>
            <a:ext cx="57150" cy="437108"/>
          </a:xfrm>
          <a:prstGeom prst="rect">
            <a:avLst/>
          </a:prstGeom>
          <a:solidFill>
            <a:srgbClr val="D95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900" y="809625"/>
            <a:ext cx="10915650" cy="52283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442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16202B"/>
                </a:solidFill>
                <a:latin typeface="Noto Serif CJK SC"/>
                <a:ea typeface="Noto Serif CJK SC"/>
              </a:rPr>
              <a:t>28｜旧材料修正清单：概念与方法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4610546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P｜额外修正：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工具依赖、内容包含、相似匹配和历史继承不是一种边。语义分类与 E/I/O 也不是一套分类：前者描述内容职能，后者描述证据视角。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2450" y="428625"/>
            <a:ext cx="11087100" cy="2762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D95D39"/>
                </a:solidFill>
                <a:latin typeface="Noto Sans CJK SC"/>
                <a:ea typeface="Noto Sans CJK SC"/>
              </a:rPr>
              <a:t>SKILL PROVENANCE / V1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37278" y="428625"/>
            <a:ext cx="1502271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6B7686"/>
                </a:solidFill>
                <a:latin typeface="Noto Sans CJK SC"/>
                <a:ea typeface="Noto Sans CJK SC"/>
              </a:rPr>
              <a:t>研究方案 · 2026.10.30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" y="6343650"/>
            <a:ext cx="11087100" cy="3905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B7686"/>
                </a:solidFill>
                <a:latin typeface="Noto Sans CJK SC"/>
                <a:ea typeface="Noto Sans CJK SC"/>
              </a:rPr>
              <a:t>多来源部分归因 · 证据可复核，结论有边界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27296" y="6467475"/>
            <a:ext cx="412253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0F4C5C"/>
                </a:solidFill>
                <a:latin typeface="Noto Sans CJK SC"/>
                <a:ea typeface="Noto Sans CJK SC"/>
              </a:rPr>
              <a:t>29 / 35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52450" y="1456283"/>
          <a:ext cx="11087099" cy="2978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0395"/>
                <a:gridCol w="7206704"/>
              </a:tblGrid>
              <a:tr h="489198"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旧表述</a:t>
                      </a:r>
                    </a:p>
                  </a:txBody>
                  <a:tcPr marL="133350" marR="133350" marT="104775" marB="95250">
                    <a:solidFill>
                      <a:srgbClr val="0F4C5C"/>
                    </a:solidFill>
                    <a:lnL w="0">
                      <a:solidFill>
                        <a:srgbClr val="0F4C5C"/>
                      </a:solidFill>
                    </a:lnL>
                    <a:lnR w="0">
                      <a:solidFill>
                        <a:srgbClr val="0F4C5C"/>
                      </a:solidFill>
                    </a:lnR>
                    <a:lnT w="0">
                      <a:solidFill>
                        <a:srgbClr val="0F4C5C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</a:rPr>
                        <a:t>V1 修正及依据</a:t>
                      </a:r>
                    </a:p>
                  </a:txBody>
                  <a:tcPr marL="133350" marR="133350" marT="104775" marB="95250">
                    <a:solidFill>
                      <a:srgbClr val="0F4C5C"/>
                    </a:solidFill>
                    <a:lnL w="0">
                      <a:solidFill>
                        <a:srgbClr val="0F4C5C"/>
                      </a:solidFill>
                    </a:lnL>
                    <a:lnR w="0">
                      <a:solidFill>
                        <a:srgbClr val="0F4C5C"/>
                      </a:solidFill>
                    </a:lnR>
                    <a:lnT w="0">
                      <a:solidFill>
                        <a:srgbClr val="0F4C5C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  <a:tr h="493960"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0F4C5C"/>
                          </a:solidFill>
                          <a:latin typeface="Noto Sans CJK SC"/>
                          <a:ea typeface="Noto Sans CJK SC"/>
                        </a:rPr>
                        <a:t>分类＋指纹就是唯一 ID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区分家族指纹、精确内容哈希和来源元数据；</a:t>
                      </a:r>
                      <a:r>
                        <a:rPr sz="1468" b="0">
                          <a:solidFill>
                            <a:srgbClr val="2A7F8F"/>
                          </a:solidFill>
                          <a:latin typeface="Noto Sans CJK SC"/>
                          <a:ea typeface="Noto Sans CJK SC"/>
                          <a:hlinkClick r:id="rId2"/>
                        </a:rPr>
                        <a:t>R02 §7.3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  <a:tr h="498723"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0F4C5C"/>
                          </a:solidFill>
                          <a:latin typeface="Noto Sans CJK SC"/>
                          <a:ea typeface="Noto Sans CJK SC"/>
                        </a:rPr>
                        <a:t>ASSCs 可直接去共同上游</a:t>
                      </a:r>
                    </a:p>
                  </a:txBody>
                  <a:tcPr marL="133350" marR="133350" marT="104775" marB="95250">
                    <a:solidFill>
                      <a:srgbClr val="F8F5EE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它恢复依赖；内容归因仍需匹配证据；</a:t>
                      </a:r>
                      <a:r>
                        <a:rPr sz="1468" b="0">
                          <a:solidFill>
                            <a:srgbClr val="2A7F8F"/>
                          </a:solidFill>
                          <a:latin typeface="Noto Sans CJK SC"/>
                          <a:ea typeface="Noto Sans CJK SC"/>
                          <a:hlinkClick r:id="rId3"/>
                        </a:rPr>
                        <a:t>R05 §II-B2</a:t>
                      </a:r>
                    </a:p>
                  </a:txBody>
                  <a:tcPr marL="133350" marR="133350" marT="104775" marB="95250">
                    <a:solidFill>
                      <a:srgbClr val="F8F5EE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  <a:tr h="498723"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0F4C5C"/>
                          </a:solidFill>
                          <a:latin typeface="Noto Sans CJK SC"/>
                          <a:ea typeface="Noto Sans CJK SC"/>
                        </a:rPr>
                        <a:t>SkillTrace 没有局部证据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已有 token／操作块／边指针；尚非本文完整联合输出；</a:t>
                      </a:r>
                      <a:r>
                        <a:rPr sz="1468" b="0">
                          <a:solidFill>
                            <a:srgbClr val="2A7F8F"/>
                          </a:solidFill>
                          <a:latin typeface="Noto Sans CJK SC"/>
                          <a:ea typeface="Noto Sans CJK SC"/>
                          <a:hlinkClick r:id="rId4"/>
                        </a:rPr>
                        <a:t>R01 §III-F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  <a:tr h="498723"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0F4C5C"/>
                          </a:solidFill>
                          <a:latin typeface="Noto Sans CJK SC"/>
                          <a:ea typeface="Noto Sans CJK SC"/>
                        </a:rPr>
                        <a:t>CENTRIS 是频率超过阈值就判公共</a:t>
                      </a:r>
                    </a:p>
                  </a:txBody>
                  <a:tcPr marL="133350" marR="133350" marT="104775" marB="95250">
                    <a:solidFill>
                      <a:srgbClr val="F8F5EE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原方法涉及共同函数、版本、出现时间和代码分割；</a:t>
                      </a:r>
                      <a:r>
                        <a:rPr sz="1468" b="0">
                          <a:solidFill>
                            <a:srgbClr val="2A7F8F"/>
                          </a:solidFill>
                          <a:latin typeface="Noto Sans CJK SC"/>
                          <a:ea typeface="Noto Sans CJK SC"/>
                          <a:hlinkClick r:id="rId5"/>
                        </a:rPr>
                        <a:t>R06 §III-C</a:t>
                      </a:r>
                    </a:p>
                  </a:txBody>
                  <a:tcPr marL="133350" marR="133350" marT="104775" marB="95250">
                    <a:solidFill>
                      <a:srgbClr val="F8F5EE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  <a:tr h="498723"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0F4C5C"/>
                          </a:solidFill>
                          <a:latin typeface="Noto Sans CJK SC"/>
                          <a:ea typeface="Noto Sans CJK SC"/>
                        </a:rPr>
                        <a:t>多 bank 的分组本身增强信息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  <a:tc>
                  <a:txBody>
                    <a:bodyPr wrap="square" anchor="t"/>
                    <a:lstStyle/>
                    <a:p>
                      <a:pPr>
                        <a:lnSpc>
                          <a:spcPts val="220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68" b="0">
                          <a:solidFill>
                            <a:srgbClr val="3D4A5C"/>
                          </a:solidFill>
                          <a:latin typeface="Noto Sans CJK SC"/>
                          <a:ea typeface="Noto Sans CJK SC"/>
                        </a:rPr>
                        <a:t>本质为更多独立位及机器字布局；</a:t>
                      </a:r>
                      <a:r>
                        <a:rPr sz="1468" b="0">
                          <a:solidFill>
                            <a:srgbClr val="2A7F8F"/>
                          </a:solidFill>
                          <a:latin typeface="Noto Sans CJK SC"/>
                          <a:ea typeface="Noto Sans CJK SC"/>
                          <a:hlinkClick r:id="rId2"/>
                        </a:rPr>
                        <a:t>R02 §2.3</a:t>
                      </a:r>
                    </a:p>
                  </a:txBody>
                  <a:tcPr marL="133350" marR="133350" marT="104775" marB="95250">
                    <a:solidFill>
                      <a:srgbClr val="FFFFFF"/>
                    </a:solidFill>
                    <a:lnL w="0">
                      <a:solidFill>
                        <a:srgbClr val="FFFFFF"/>
                      </a:solidFill>
                    </a:lnL>
                    <a:lnR w="0">
                      <a:solidFill>
                        <a:srgbClr val="FFFFFF"/>
                      </a:solidFill>
                    </a:lnR>
                    <a:lnT w="0">
                      <a:solidFill>
                        <a:srgbClr val="FFFFFF"/>
                      </a:solidFill>
                    </a:lnT>
                    <a:lnB w="6350">
                      <a:solidFill>
                        <a:srgbClr val="E3DDC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52450" y="6334125"/>
            <a:ext cx="11087100" cy="9525"/>
          </a:xfrm>
          <a:prstGeom prst="rect">
            <a:avLst/>
          </a:prstGeom>
          <a:solidFill>
            <a:srgbClr val="E3D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2450" y="809625"/>
            <a:ext cx="57150" cy="437108"/>
          </a:xfrm>
          <a:prstGeom prst="rect">
            <a:avLst/>
          </a:prstGeom>
          <a:solidFill>
            <a:srgbClr val="D95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900" y="809625"/>
            <a:ext cx="10915650" cy="52283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442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16202B"/>
                </a:solidFill>
                <a:latin typeface="Noto Serif CJK SC"/>
                <a:ea typeface="Noto Serif CJK SC"/>
              </a:rPr>
              <a:t>29｜旧材料修正清单：判断与实验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700" y="1456283"/>
            <a:ext cx="1099185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• </a:t>
            </a: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不能由 A/B 整体不像推出 X 同时复制两者；不能由“像硬塞”判方向；不能由无独有签名推出公共 C。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 这些是缺少充分前提的推断，应改为局部证据审查和歧义输出（P）。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" y="2221855"/>
            <a:ext cx="1099185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• </a:t>
            </a: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Decomp-FP 不是完全没有未知处理。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 §6.3、§7.4 已有 novelty／review；但不是本方案的区域级开放集输出（F，</a:t>
            </a:r>
            <a:r>
              <a:rPr sz="1650" b="0">
                <a:solidFill>
                  <a:srgbClr val="2A7F8F"/>
                </a:solidFill>
                <a:latin typeface="Noto Sans CJK SC"/>
                <a:ea typeface="Noto Sans CJK SC"/>
                <a:hlinkClick r:id="rId2"/>
              </a:rPr>
              <a:t>R02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" y="2987426"/>
            <a:ext cx="1099185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• </a:t>
            </a: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OOD 总体 AUC 0.739 不单独证明融合失败。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 §5.3 仅 13 个正例对且标签较弱；标签问题是作者解释，V1 不将其写成独立证实的原因（F）。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3752998"/>
            <a:ext cx="1099185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• </a:t>
            </a: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跨语言恢复不能泛化。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 受控翻译中未变的 prompt 可承载匹配，不能据此宣称 code 普遍跨语言鲁棒（F，R02 附录 E）。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" y="4518570"/>
            <a:ext cx="1099185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• </a:t>
            </a: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默认颜色、通用错误处理和普通 API 名不能自动成为独有签名。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 必须与规格、模板和背景语料比较；未知不等于独立（P）。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2450" y="428625"/>
            <a:ext cx="11087100" cy="2762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D95D39"/>
                </a:solidFill>
                <a:latin typeface="Noto Sans CJK SC"/>
                <a:ea typeface="Noto Sans CJK SC"/>
              </a:rPr>
              <a:t>SKILL PROVENANCE / V1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37278" y="428625"/>
            <a:ext cx="1502271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6B7686"/>
                </a:solidFill>
                <a:latin typeface="Noto Sans CJK SC"/>
                <a:ea typeface="Noto Sans CJK SC"/>
              </a:rPr>
              <a:t>研究方案 · 2026.10.30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2450" y="6343650"/>
            <a:ext cx="11087100" cy="3905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B7686"/>
                </a:solidFill>
                <a:latin typeface="Noto Sans CJK SC"/>
                <a:ea typeface="Noto Sans CJK SC"/>
              </a:rPr>
              <a:t>多来源部分归因 · 证据可复核，结论有边界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27296" y="6467475"/>
            <a:ext cx="412253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0F4C5C"/>
                </a:solidFill>
                <a:latin typeface="Noto Sans CJK SC"/>
                <a:ea typeface="Noto Sans CJK SC"/>
              </a:rPr>
              <a:t>30 / 35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52450" y="6334125"/>
            <a:ext cx="11087100" cy="9525"/>
          </a:xfrm>
          <a:prstGeom prst="rect">
            <a:avLst/>
          </a:prstGeom>
          <a:solidFill>
            <a:srgbClr val="E3D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2450" y="809625"/>
            <a:ext cx="57150" cy="437108"/>
          </a:xfrm>
          <a:prstGeom prst="rect">
            <a:avLst/>
          </a:prstGeom>
          <a:solidFill>
            <a:srgbClr val="D95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900" y="809625"/>
            <a:ext cx="10915650" cy="52283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442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16202B"/>
                </a:solidFill>
                <a:latin typeface="Noto Serif CJK SC"/>
                <a:ea typeface="Noto Serif CJK SC"/>
              </a:rPr>
              <a:t>30｜限制、风险与 V1 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1456283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主要限制：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候选库不完整；时间记录与来源声明可能失真；公共资源未收录；短区域信息不足；LLM 提取有误；片段边界与真实贡献不一致；同一证据重复计分；图结构可由功能需求自然产生。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2450" y="2279005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对策：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冻结版本、保存原始证据；显式标记缺失和不适用；对共有证据降区分权重；保留歧义与未知；以同信息强基线验证联合收益；报告错误案例和成本。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2450" y="3101726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V1 结论：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“语义分类＋组件指纹＋三轨迹＋依赖关系＋LLM 复核”可以构成工程框架，但每个模块各司其职。真正待验证的是：局部公共内容解释与多候选竞争，能否在相同覆盖率下减少错误唯一归因。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" y="3924448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当前已完成文献相关章节核对与方案设计；本文未提供检测系统实现、实验数据或性能结果。下一步应冻结任务、制作独立对照并实现 B1/B2，而不是先扩展未经验证的复杂模型。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2450" y="428625"/>
            <a:ext cx="11087100" cy="2762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D95D39"/>
                </a:solidFill>
                <a:latin typeface="Noto Sans CJK SC"/>
                <a:ea typeface="Noto Sans CJK SC"/>
              </a:rPr>
              <a:t>SKILL PROVENANCE / V1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37278" y="428625"/>
            <a:ext cx="1502271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6B7686"/>
                </a:solidFill>
                <a:latin typeface="Noto Sans CJK SC"/>
                <a:ea typeface="Noto Sans CJK SC"/>
              </a:rPr>
              <a:t>研究方案 · 2026.10.30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450" y="6343650"/>
            <a:ext cx="11087100" cy="3905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B7686"/>
                </a:solidFill>
                <a:latin typeface="Noto Sans CJK SC"/>
                <a:ea typeface="Noto Sans CJK SC"/>
              </a:rPr>
              <a:t>多来源部分归因 · 证据可复核，结论有边界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27296" y="6467475"/>
            <a:ext cx="412253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0F4C5C"/>
                </a:solidFill>
                <a:latin typeface="Noto Sans CJK SC"/>
                <a:ea typeface="Noto Sans CJK SC"/>
              </a:rPr>
              <a:t>31 / 35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52450" y="6334125"/>
            <a:ext cx="11087100" cy="9525"/>
          </a:xfrm>
          <a:prstGeom prst="rect">
            <a:avLst/>
          </a:prstGeom>
          <a:solidFill>
            <a:srgbClr val="E3D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2450" y="809625"/>
            <a:ext cx="57150" cy="437108"/>
          </a:xfrm>
          <a:prstGeom prst="rect">
            <a:avLst/>
          </a:prstGeom>
          <a:solidFill>
            <a:srgbClr val="D95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900" y="809625"/>
            <a:ext cx="10915650" cy="52283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442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16202B"/>
                </a:solidFill>
                <a:latin typeface="Noto Serif CJK SC"/>
                <a:ea typeface="Noto Serif CJK SC"/>
              </a:rPr>
              <a:t>31｜参考文献与可复核入口：直接工作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700" y="1456283"/>
            <a:ext cx="1099185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• </a:t>
            </a: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S01｜Agent Skills Specification。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 </a:t>
            </a:r>
            <a:r>
              <a:rPr sz="1650" b="0">
                <a:solidFill>
                  <a:srgbClr val="2A7F8F"/>
                </a:solidFill>
                <a:latin typeface="Noto Sans CJK SC"/>
                <a:ea typeface="Noto Sans CJK SC"/>
                <a:hlinkClick r:id="rId2"/>
              </a:rPr>
              <a:t>官方规格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。定位：Directory structure、SKILL.md format。动态页面，核查日 2026-10-30。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" y="2221855"/>
            <a:ext cx="1099185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• </a:t>
            </a: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R01｜Jialuo Chen 等，SkillTrace: Multi-Trace Provenance Auditing for LLM-Agent Skill Reuse，2026，v2。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 </a:t>
            </a:r>
            <a:r>
              <a:rPr sz="1650" b="0">
                <a:solidFill>
                  <a:srgbClr val="2A7F8F"/>
                </a:solidFill>
                <a:latin typeface="Noto Sans CJK SC"/>
                <a:ea typeface="Noto Sans CJK SC"/>
                <a:hlinkClick r:id="rId3"/>
              </a:rPr>
              <a:t>版本入口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 · </a:t>
            </a:r>
            <a:r>
              <a:rPr sz="1650" b="0">
                <a:solidFill>
                  <a:srgbClr val="2A7F8F"/>
                </a:solidFill>
                <a:latin typeface="Noto Sans CJK SC"/>
                <a:ea typeface="Noto Sans CJK SC"/>
                <a:hlinkClick r:id="rId4"/>
              </a:rPr>
              <a:t>全文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。定位：§III、§IV-B/F/H、§V-C。F：上传 PDF 相关章节及线上元数据。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" y="2987426"/>
            <a:ext cx="10991850" cy="1091207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• </a:t>
            </a: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R02｜Hongliang Liu、Yuhao Wu、Tung-Ling Li，The Decomposition Is the Fingerprint: Per-Component Identity for Agent Skills，2026，v1。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 </a:t>
            </a:r>
            <a:r>
              <a:rPr sz="1650" b="0">
                <a:solidFill>
                  <a:srgbClr val="2A7F8F"/>
                </a:solidFill>
                <a:latin typeface="Noto Sans CJK SC"/>
                <a:ea typeface="Noto Sans CJK SC"/>
                <a:hlinkClick r:id="rId5"/>
              </a:rPr>
              <a:t>版本入口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 · </a:t>
            </a:r>
            <a:r>
              <a:rPr sz="1650" b="0">
                <a:solidFill>
                  <a:srgbClr val="2A7F8F"/>
                </a:solidFill>
                <a:latin typeface="Noto Sans CJK SC"/>
                <a:ea typeface="Noto Sans CJK SC"/>
                <a:hlinkClick r:id="rId6"/>
              </a:rPr>
              <a:t>PDF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。定位：§2、§5–9、附录 E。F：上传 PDF 相关章节及线上元数据。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4088159"/>
            <a:ext cx="1099185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• </a:t>
            </a: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R03｜Jiaying Zhu 等，Latent Reuse in Agent Skills: Multi-modal Clone Detection at Ecosystem Scale，2026，v2。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 </a:t>
            </a:r>
            <a:r>
              <a:rPr sz="1650" b="0">
                <a:solidFill>
                  <a:srgbClr val="2A7F8F"/>
                </a:solidFill>
                <a:latin typeface="Noto Sans CJK SC"/>
                <a:ea typeface="Noto Sans CJK SC"/>
                <a:hlinkClick r:id="rId7"/>
              </a:rPr>
              <a:t>全文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 · </a:t>
            </a:r>
            <a:r>
              <a:rPr sz="1650" b="0">
                <a:solidFill>
                  <a:srgbClr val="2A7F8F"/>
                </a:solidFill>
                <a:latin typeface="Noto Sans CJK SC"/>
                <a:ea typeface="Noto Sans CJK SC"/>
                <a:hlinkClick r:id="rId8"/>
              </a:rPr>
              <a:t>ASE DOI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。定位：§3、§5.1。F：相关章节；未复现。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2450" y="428625"/>
            <a:ext cx="11087100" cy="2762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D95D39"/>
                </a:solidFill>
                <a:latin typeface="Noto Sans CJK SC"/>
                <a:ea typeface="Noto Sans CJK SC"/>
              </a:rPr>
              <a:t>SKILL PROVENANCE / V1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37278" y="428625"/>
            <a:ext cx="1502271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6B7686"/>
                </a:solidFill>
                <a:latin typeface="Noto Sans CJK SC"/>
                <a:ea typeface="Noto Sans CJK SC"/>
              </a:rPr>
              <a:t>研究方案 · 2026.10.30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450" y="6343650"/>
            <a:ext cx="11087100" cy="3905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B7686"/>
                </a:solidFill>
                <a:latin typeface="Noto Sans CJK SC"/>
                <a:ea typeface="Noto Sans CJK SC"/>
              </a:rPr>
              <a:t>多来源部分归因 · 证据可复核，结论有边界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27296" y="6467475"/>
            <a:ext cx="412253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0F4C5C"/>
                </a:solidFill>
                <a:latin typeface="Noto Sans CJK SC"/>
                <a:ea typeface="Noto Sans CJK SC"/>
              </a:rPr>
              <a:t>32 / 35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52450" y="6334125"/>
            <a:ext cx="11087100" cy="9525"/>
          </a:xfrm>
          <a:prstGeom prst="rect">
            <a:avLst/>
          </a:prstGeom>
          <a:solidFill>
            <a:srgbClr val="E3D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2450" y="809625"/>
            <a:ext cx="57150" cy="437108"/>
          </a:xfrm>
          <a:prstGeom prst="rect">
            <a:avLst/>
          </a:prstGeom>
          <a:solidFill>
            <a:srgbClr val="D95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900" y="809625"/>
            <a:ext cx="10915650" cy="52283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442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16202B"/>
                </a:solidFill>
                <a:latin typeface="Noto Serif CJK SC"/>
                <a:ea typeface="Noto Serif CJK SC"/>
              </a:rPr>
              <a:t>32｜参考文献与可复核入口：分类与结构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700" y="1456283"/>
            <a:ext cx="10991850" cy="1091207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• </a:t>
            </a: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R04｜David Boram Hong、Aaron Imani、Iftekhar Ahmed，From Anatomy to Smells: An Empirical Study of SKILL.md in Agent Skills，2026，v2。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 </a:t>
            </a:r>
            <a:r>
              <a:rPr sz="1650" b="0">
                <a:solidFill>
                  <a:srgbClr val="2A7F8F"/>
                </a:solidFill>
                <a:latin typeface="Noto Sans CJK SC"/>
                <a:ea typeface="Noto Sans CJK SC"/>
                <a:hlinkClick r:id="rId2"/>
              </a:rPr>
              <a:t>全文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。定位：§III-A、§IV 表 I。F：方法与分类表。238 是研究总样本；正文分类结果另报告 224 个含 H2 的文件，不混用分母。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" y="2557016"/>
            <a:ext cx="10991850" cy="1091207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• </a:t>
            </a: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R05｜Changguo Jia、Tianqi Zhao、Runzhi He、Minghui Zhou，Skills Are Not Islands: Measuring Dependency and Risk in Agent Skill Supply Chains，2026，v1。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 </a:t>
            </a:r>
            <a:r>
              <a:rPr sz="1650" b="0">
                <a:solidFill>
                  <a:srgbClr val="2A7F8F"/>
                </a:solidFill>
                <a:latin typeface="Noto Sans CJK SC"/>
                <a:ea typeface="Noto Sans CJK SC"/>
                <a:hlinkClick r:id="rId3"/>
              </a:rPr>
              <a:t>全文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。定位：§II-B2、§III-B–E。F：依赖分析相关章节。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" y="3657748"/>
            <a:ext cx="10991850" cy="1091207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• </a:t>
            </a: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R06｜Seunghoon Woo 等，CENTRIS: A Precise and Scalable Approach for Identifying Modified Open-Source Software Reuse，2021。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 </a:t>
            </a:r>
            <a:r>
              <a:rPr sz="1650" b="0">
                <a:solidFill>
                  <a:srgbClr val="2A7F8F"/>
                </a:solidFill>
                <a:latin typeface="Noto Sans CJK SC"/>
                <a:ea typeface="Noto Sans CJK SC"/>
                <a:hlinkClick r:id="rId4"/>
              </a:rPr>
              <a:t>全文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 · </a:t>
            </a:r>
            <a:r>
              <a:rPr sz="1650" b="0">
                <a:solidFill>
                  <a:srgbClr val="2A7F8F"/>
                </a:solidFill>
                <a:latin typeface="Noto Sans CJK SC"/>
                <a:ea typeface="Noto Sans CJK SC"/>
                <a:hlinkClick r:id="rId5"/>
              </a:rPr>
              <a:t>版本入口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。定位：§III-C，尤其共同函数、birth time 与 application code。F：方法相关章节。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4758481"/>
            <a:ext cx="1099185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• </a:t>
            </a: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R07｜Siyuan Li 等，LibAM: An Area Matching Framework for Detecting Third-party Libraries in Binaries，预印本 2023，v3。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 </a:t>
            </a:r>
            <a:r>
              <a:rPr sz="1650" b="0">
                <a:solidFill>
                  <a:srgbClr val="2A7F8F"/>
                </a:solidFill>
                <a:latin typeface="Noto Sans CJK SC"/>
                <a:ea typeface="Noto Sans CJK SC"/>
                <a:hlinkClick r:id="rId6"/>
              </a:rPr>
              <a:t>全文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 · </a:t>
            </a:r>
            <a:r>
              <a:rPr sz="1650" b="0">
                <a:solidFill>
                  <a:srgbClr val="2A7F8F"/>
                </a:solidFill>
                <a:latin typeface="Noto Sans CJK SC"/>
                <a:ea typeface="Noto Sans CJK SC"/>
                <a:hlinkClick r:id="rId7"/>
              </a:rPr>
              <a:t>期刊 DOI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。定位：§2–3。F：任务与区域匹配方法；版本日期不当作期刊出版年。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2450" y="428625"/>
            <a:ext cx="11087100" cy="2762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D95D39"/>
                </a:solidFill>
                <a:latin typeface="Noto Sans CJK SC"/>
                <a:ea typeface="Noto Sans CJK SC"/>
              </a:rPr>
              <a:t>SKILL PROVENANCE / V1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37278" y="428625"/>
            <a:ext cx="1502271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6B7686"/>
                </a:solidFill>
                <a:latin typeface="Noto Sans CJK SC"/>
                <a:ea typeface="Noto Sans CJK SC"/>
              </a:rPr>
              <a:t>研究方案 · 2026.10.30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450" y="6343650"/>
            <a:ext cx="11087100" cy="3905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B7686"/>
                </a:solidFill>
                <a:latin typeface="Noto Sans CJK SC"/>
                <a:ea typeface="Noto Sans CJK SC"/>
              </a:rPr>
              <a:t>多来源部分归因 · 证据可复核，结论有边界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27296" y="6467475"/>
            <a:ext cx="412253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0F4C5C"/>
                </a:solidFill>
                <a:latin typeface="Noto Sans CJK SC"/>
                <a:ea typeface="Noto Sans CJK SC"/>
              </a:rPr>
              <a:t>33 / 35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52450" y="6334125"/>
            <a:ext cx="11087100" cy="9525"/>
          </a:xfrm>
          <a:prstGeom prst="rect">
            <a:avLst/>
          </a:prstGeom>
          <a:solidFill>
            <a:srgbClr val="E3D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2450" y="809625"/>
            <a:ext cx="57150" cy="437108"/>
          </a:xfrm>
          <a:prstGeom prst="rect">
            <a:avLst/>
          </a:prstGeom>
          <a:solidFill>
            <a:srgbClr val="D95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900" y="809625"/>
            <a:ext cx="10915650" cy="52283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442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16202B"/>
                </a:solidFill>
                <a:latin typeface="Noto Serif CJK SC"/>
                <a:ea typeface="Noto Serif CJK SC"/>
              </a:rPr>
              <a:t>33｜参考文献与可复核入口：边界与评价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700" y="1456283"/>
            <a:ext cx="10991850" cy="1091207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• </a:t>
            </a: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R08｜DeRed: Enhancing third-party library detection in binaries via deceptive reuse mitigation，Computers &amp; Security，2026。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 </a:t>
            </a:r>
            <a:r>
              <a:rPr sz="1650" b="0">
                <a:solidFill>
                  <a:srgbClr val="2A7F8F"/>
                </a:solidFill>
                <a:latin typeface="Noto Sans CJK SC"/>
                <a:ea typeface="Noto Sans CJK SC"/>
                <a:hlinkClick r:id="rId2"/>
              </a:rPr>
              <a:t>出版方入口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。A：出版方检索摘要；全文 403，作者列表和具体拓扑判定规则不在本版转述。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" y="2557016"/>
            <a:ext cx="10991850" cy="1091207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• </a:t>
            </a: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R09｜Chengyue Liu 等，Beyond Similarity Scores: Evidence-Based Third-Party Library Detection for C/C++ Binaries（BLADE），ISSTA 2026。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 </a:t>
            </a:r>
            <a:r>
              <a:rPr sz="1650" b="0">
                <a:solidFill>
                  <a:srgbClr val="2A7F8F"/>
                </a:solidFill>
                <a:latin typeface="Noto Sans CJK SC"/>
                <a:ea typeface="Noto Sans CJK SC"/>
                <a:hlinkClick r:id="rId3"/>
              </a:rPr>
              <a:t>官方会议条目与摘要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 · </a:t>
            </a:r>
            <a:r>
              <a:rPr sz="1650" b="0">
                <a:solidFill>
                  <a:srgbClr val="2A7F8F"/>
                </a:solidFill>
                <a:latin typeface="Noto Sans CJK SC"/>
                <a:ea typeface="Noto Sans CJK SC"/>
                <a:hlinkClick r:id="rId4"/>
              </a:rPr>
              <a:t>条目提供的预印本入口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。A：官方摘要；PDF 链接已定位，本文未依其全文细节做断言。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" y="3657748"/>
            <a:ext cx="1099185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• </a:t>
            </a: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R10｜Ran El-Yaniv、Yair Wiener，On the Foundations of Noise-free Selective Classification，JMLR 11(53):1605–1641，2010。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 </a:t>
            </a:r>
            <a:r>
              <a:rPr sz="1650" b="0">
                <a:solidFill>
                  <a:srgbClr val="2A7F8F"/>
                </a:solidFill>
                <a:latin typeface="Noto Sans CJK SC"/>
                <a:ea typeface="Noto Sans CJK SC"/>
                <a:hlinkClick r:id="rId5"/>
              </a:rPr>
              <a:t>官方页面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。A：摘要与元数据；只借鉴风险—覆盖率口径。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4423320"/>
            <a:ext cx="1099185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• </a:t>
            </a: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R11｜Shuwen Xu、Zhitao He、Yi R. Fung，RedAct: Redacting Agent Capability Traces for Procedural Skill Protection，2026，v3。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 </a:t>
            </a:r>
            <a:r>
              <a:rPr sz="1650" b="0">
                <a:solidFill>
                  <a:srgbClr val="2A7F8F"/>
                </a:solidFill>
                <a:latin typeface="Noto Sans CJK SC"/>
                <a:ea typeface="Noto Sans CJK SC"/>
                <a:hlinkClick r:id="rId6"/>
              </a:rPr>
              <a:t>版本入口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。A：摘要；只用于界定邻近任务。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2450" y="428625"/>
            <a:ext cx="11087100" cy="2762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D95D39"/>
                </a:solidFill>
                <a:latin typeface="Noto Sans CJK SC"/>
                <a:ea typeface="Noto Sans CJK SC"/>
              </a:rPr>
              <a:t>SKILL PROVENANCE / V1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37278" y="428625"/>
            <a:ext cx="1502271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6B7686"/>
                </a:solidFill>
                <a:latin typeface="Noto Sans CJK SC"/>
                <a:ea typeface="Noto Sans CJK SC"/>
              </a:rPr>
              <a:t>研究方案 · 2026.10.30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450" y="6343650"/>
            <a:ext cx="11087100" cy="3905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B7686"/>
                </a:solidFill>
                <a:latin typeface="Noto Sans CJK SC"/>
                <a:ea typeface="Noto Sans CJK SC"/>
              </a:rPr>
              <a:t>多来源部分归因 · 证据可复核，结论有边界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27296" y="6467475"/>
            <a:ext cx="412253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0F4C5C"/>
                </a:solidFill>
                <a:latin typeface="Noto Sans CJK SC"/>
                <a:ea typeface="Noto Sans CJK SC"/>
              </a:rPr>
              <a:t>34 / 35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52450" y="6334125"/>
            <a:ext cx="11087100" cy="9525"/>
          </a:xfrm>
          <a:prstGeom prst="rect">
            <a:avLst/>
          </a:prstGeom>
          <a:solidFill>
            <a:srgbClr val="E3D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2450" y="809625"/>
            <a:ext cx="57150" cy="437108"/>
          </a:xfrm>
          <a:prstGeom prst="rect">
            <a:avLst/>
          </a:prstGeom>
          <a:solidFill>
            <a:srgbClr val="D95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900" y="809625"/>
            <a:ext cx="10915650" cy="522833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3442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16202B"/>
                </a:solidFill>
                <a:latin typeface="Noto Serif CJK SC"/>
                <a:ea typeface="Noto Serif CJK SC"/>
              </a:rPr>
              <a:t>34｜材料账本与版本记录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1456283"/>
            <a:ext cx="11087100" cy="1091207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用户材料：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2026-10-27 研究规划；2026-10-28 文献脉络、概念澄清 Q&amp;A、公共模块判断流程图；SkillTrace 与 Decomp-FP HTML 解读；两篇 PDF 原文。旧材料中的结论以本版逐项核查结果为准。仓库已有规划的</a:t>
            </a:r>
            <a:r>
              <a:rPr sz="1650" b="0">
                <a:solidFill>
                  <a:srgbClr val="2A7F8F"/>
                </a:solidFill>
                <a:latin typeface="Noto Sans CJK SC"/>
                <a:ea typeface="Noto Sans CJK SC"/>
                <a:hlinkClick r:id="rId2"/>
              </a:rPr>
              <a:t>历史入口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仅用于追踪研究演化，不替代论文依据。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2450" y="2614166"/>
            <a:ext cx="11087100" cy="42088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上传文件 SHA-256（识别本次核查对象）：</a:t>
            </a:r>
          </a:p>
        </p:txBody>
      </p:sp>
      <p:sp>
        <p:nvSpPr>
          <p:cNvPr id="8" name="Rectangle 7"/>
          <p:cNvSpPr/>
          <p:nvPr/>
        </p:nvSpPr>
        <p:spPr>
          <a:xfrm>
            <a:off x="552450" y="3101726"/>
            <a:ext cx="11087100" cy="1987450"/>
          </a:xfrm>
          <a:prstGeom prst="rect">
            <a:avLst/>
          </a:prstGeom>
          <a:solidFill>
            <a:srgbClr val="FFFFFF"/>
          </a:solidFill>
          <a:ln w="7620">
            <a:solidFill>
              <a:srgbClr val="E3DD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2450" y="3101726"/>
            <a:ext cx="38100" cy="1987450"/>
          </a:xfrm>
          <a:prstGeom prst="rect">
            <a:avLst/>
          </a:prstGeom>
          <a:solidFill>
            <a:srgbClr val="0F4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3254126"/>
            <a:ext cx="10668000" cy="176837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033"/>
              </a:lnSpc>
              <a:spcBef>
                <a:spcPts val="0"/>
              </a:spcBef>
              <a:spcAft>
                <a:spcPts val="0"/>
              </a:spcAft>
            </a:pPr>
            <a:r>
              <a:rPr sz="1402" b="0">
                <a:solidFill>
                  <a:srgbClr val="0F4C5C"/>
                </a:solidFill>
                <a:latin typeface="Noto Sans Mono CJK SC"/>
                <a:ea typeface="Noto Sans Mono CJK SC"/>
              </a:rPr>
              <a:t>SkillTrace PDF</a:t>
            </a:r>
            <a:br/>
            <a:r>
              <a:rPr sz="1402" b="0">
                <a:solidFill>
                  <a:srgbClr val="0F4C5C"/>
                </a:solidFill>
                <a:latin typeface="Noto Sans Mono CJK SC"/>
                <a:ea typeface="Noto Sans Mono CJK SC"/>
              </a:rPr>
              <a:t>08e25f198523e75099380b0303708d91a203b4db1d5d9f54e26a3980e16f4f5a</a:t>
            </a:r>
            <a:br/>
            <a:r>
              <a:rPr sz="1402" b="0">
                <a:solidFill>
                  <a:srgbClr val="0F4C5C"/>
                </a:solidFill>
                <a:latin typeface="Noto Sans Mono CJK SC"/>
                <a:ea typeface="Noto Sans Mono CJK SC"/>
              </a:rPr>
              <a:t>Decomp-FP PDF</a:t>
            </a:r>
            <a:br/>
            <a:r>
              <a:rPr sz="1402" b="0">
                <a:solidFill>
                  <a:srgbClr val="0F4C5C"/>
                </a:solidFill>
                <a:latin typeface="Noto Sans Mono CJK SC"/>
                <a:ea typeface="Noto Sans Mono CJK SC"/>
              </a:rPr>
              <a:t>7ef467d75bf7535b693aed88932804f398157ec881bdcf4bf3550ec77efbb84a</a:t>
            </a:r>
            <a:br/>
            <a:r>
              <a:rPr sz="1402" b="0">
                <a:solidFill>
                  <a:srgbClr val="0F4C5C"/>
                </a:solidFill>
                <a:latin typeface="Noto Sans Mono CJK SC"/>
                <a:ea typeface="Noto Sans Mono CJK SC"/>
              </a:rPr>
              <a:t>概念澄清 QA HTML</a:t>
            </a:r>
            <a:br/>
            <a:r>
              <a:rPr sz="1402" b="0">
                <a:solidFill>
                  <a:srgbClr val="0F4C5C"/>
                </a:solidFill>
                <a:latin typeface="Noto Sans Mono CJK SC"/>
                <a:ea typeface="Noto Sans Mono CJK SC"/>
              </a:rPr>
              <a:t>0c0077a797e0c4908030b1f793c7bd1caaa3d0b5f2b3f3ba249bf2e10e8b814f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2450" y="5260627"/>
            <a:ext cx="11087100" cy="756046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F4C5C"/>
                </a:solidFill>
                <a:latin typeface="Noto Sans CJK SC"/>
                <a:ea typeface="Noto Sans CJK SC"/>
              </a:rPr>
              <a:t>V1｜2026-10-30：</a:t>
            </a:r>
            <a:r>
              <a:rPr sz="1650" b="0">
                <a:solidFill>
                  <a:srgbClr val="3D4A5C"/>
                </a:solidFill>
                <a:latin typeface="Noto Sans CJK SC"/>
                <a:ea typeface="Noto Sans CJK SC"/>
              </a:rPr>
              <a:t>整合对象、问题、相关工作、启发、预设、方法、评测与纠错；新增证据等级和引用定位；形成 16:9 HTML。后续 V1.x 修订事实与引用，方法和评测重大变更另升 V2，均记录变化理由。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2450" y="428625"/>
            <a:ext cx="11087100" cy="2762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D95D39"/>
                </a:solidFill>
                <a:latin typeface="Noto Sans CJK SC"/>
                <a:ea typeface="Noto Sans CJK SC"/>
              </a:rPr>
              <a:t>SKILL PROVENANCE / V1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7278" y="428625"/>
            <a:ext cx="1502271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6B7686"/>
                </a:solidFill>
                <a:latin typeface="Noto Sans CJK SC"/>
                <a:ea typeface="Noto Sans CJK SC"/>
              </a:rPr>
              <a:t>研究方案 · 2026.10.30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2450" y="6343650"/>
            <a:ext cx="11087100" cy="390525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6B7686"/>
                </a:solidFill>
                <a:latin typeface="Noto Sans CJK SC"/>
                <a:ea typeface="Noto Sans CJK SC"/>
              </a:rPr>
              <a:t>多来源部分归因 · 证据可复核，结论有边界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27296" y="6467475"/>
            <a:ext cx="412253" cy="266700"/>
          </a:xfrm>
          <a:prstGeom prst="rect">
            <a:avLst/>
          </a:prstGeom>
          <a:noFill/>
        </p:spPr>
        <p:txBody>
          <a:bodyPr wrap="square" tIns="0" bIns="0" lIns="0" rIns="0" anchor="t">
            <a:sp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0F4C5C"/>
                </a:solidFill>
                <a:latin typeface="Noto Sans CJK SC"/>
                <a:ea typeface="Noto Sans CJK SC"/>
              </a:rPr>
              <a:t>35 / 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多来源部分归因 · 研究方案 V1</dc:title>
  <dc:subject>16:9 可编辑演示文稿</dc:subject>
  <dc:creator/>
  <cp:keywords/>
  <dc:description>由配套 HTML 的排版快照转换；正文和表格可编辑。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